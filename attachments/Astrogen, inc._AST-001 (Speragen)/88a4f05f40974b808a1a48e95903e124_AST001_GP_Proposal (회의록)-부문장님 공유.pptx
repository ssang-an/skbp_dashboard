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559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A2721-E8FC-9043-3E31-34F9A3EB4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34E933-B7F2-2396-17F7-1C925CF15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780C6-7E84-C08C-FEF1-87BB04C0E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01328-654E-43B4-B95C-0A1A0AAFA5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65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9600C-ECED-5B61-251C-854502D1C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822B4B-A23F-1036-4BFD-11137F766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EF48E8-23B8-A7E8-5B7B-C3936F87C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90C3B-250E-C5BE-934A-16CD4615CF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94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36008"/>
            <a:ext cx="9144000" cy="507492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132320" y="548640"/>
            <a:ext cx="2560320" cy="2560320"/>
          </a:xfrm>
          <a:prstGeom prst="ellipse">
            <a:avLst/>
          </a:prstGeom>
          <a:solidFill>
            <a:srgbClr val="1282A2">
              <a:alpha val="15000"/>
            </a:srgbClr>
          </a:solidFill>
          <a:ln w="12700">
            <a:solidFill>
              <a:srgbClr val="1282A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589520" y="1005840"/>
            <a:ext cx="1645920" cy="1645920"/>
          </a:xfrm>
          <a:prstGeom prst="ellipse">
            <a:avLst/>
          </a:prstGeom>
          <a:solidFill>
            <a:srgbClr val="0ACDAD">
              <a:alpha val="25000"/>
            </a:srgbClr>
          </a:solidFill>
          <a:ln w="12700">
            <a:solidFill>
              <a:srgbClr val="0ACDA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AST-001 Glycerophosphate Conjugate (LS-001 GP)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AC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 우위 · 차별성 · 특허 전략 제안서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943600" cy="0"/>
          </a:xfrm>
          <a:prstGeom prst="line">
            <a:avLst/>
          </a:prstGeom>
          <a:noFill/>
          <a:ln w="1905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콜린알포세레이트(Alpha-GPC) 방법론의 L-세린 적용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글라이세롤포스페이트 포스포에스터 결합을 통한 BBB 투과도 향상 및 이중 시너지 메커니즘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0ACDAD">
              <a:alpha val="80000"/>
            </a:srgbClr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BBB 투과도 향상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17520" y="301752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282A2">
              <a:alpha val="80000"/>
            </a:srgbClr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01752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이중 메커니즘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301752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57784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특허 진보성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Confidential  |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64008" cy="5038344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01168" y="1645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</a:rPr>
              <a:t>Executive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777240"/>
            <a:ext cx="1463040" cy="256032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01168" y="777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핵심 요약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" y="1097280"/>
            <a:ext cx="2679192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01168" y="1097280"/>
            <a:ext cx="54864" cy="347472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10896" y="11704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</a:rPr>
              <a:t>🎯  문제 정의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" y="1481328"/>
            <a:ext cx="25146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L-세린(AST-001)은 신경계 필수 아미노산이나 BBB 투과도가 낮음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ASCT1/ASCT2 트랜스포터는 포화 가능(saturable)하여 뇌 내 유효 농도 유지가 어려움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SLC1A4 변이 시 뇌 발달 지연·저수초화 유발 → 세린 뇌 공급이 임상적으로 중요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기존 L-세린 보충 요법의 뇌 도달률 한계 극복이 </a:t>
            </a:r>
            <a:r>
              <a:rPr lang="en-US" sz="950" dirty="0" err="1">
                <a:solidFill>
                  <a:srgbClr val="334155"/>
                </a:solidFill>
              </a:rPr>
              <a:t>핵심</a:t>
            </a:r>
            <a:r>
              <a:rPr lang="en-US" sz="950" dirty="0">
                <a:solidFill>
                  <a:srgbClr val="334155"/>
                </a:solidFill>
              </a:rPr>
              <a:t> </a:t>
            </a:r>
            <a:r>
              <a:rPr lang="en-US" sz="950" dirty="0" err="1">
                <a:solidFill>
                  <a:srgbClr val="334155"/>
                </a:solidFill>
              </a:rPr>
              <a:t>과제</a:t>
            </a:r>
            <a:endParaRPr lang="en-US" sz="950" dirty="0">
              <a:solidFill>
                <a:srgbClr val="334155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ko-KR" altLang="en-US" sz="950" dirty="0">
                <a:solidFill>
                  <a:srgbClr val="334155"/>
                </a:solidFill>
              </a:rPr>
              <a:t>높은 투여 용량</a:t>
            </a:r>
            <a:r>
              <a:rPr lang="en-US" altLang="ko-KR" sz="950" dirty="0">
                <a:solidFill>
                  <a:srgbClr val="334155"/>
                </a:solidFill>
              </a:rPr>
              <a:t>(4~28g)</a:t>
            </a:r>
            <a:r>
              <a:rPr lang="ko-KR" altLang="en-US" sz="950" dirty="0">
                <a:solidFill>
                  <a:srgbClr val="334155"/>
                </a:solidFill>
              </a:rPr>
              <a:t>에 따른 </a:t>
            </a:r>
            <a:r>
              <a:rPr lang="ko-KR" altLang="en-US" sz="950" dirty="0" err="1">
                <a:solidFill>
                  <a:srgbClr val="334155"/>
                </a:solidFill>
              </a:rPr>
              <a:t>위장계</a:t>
            </a:r>
            <a:r>
              <a:rPr lang="ko-KR" altLang="en-US" sz="950" dirty="0">
                <a:solidFill>
                  <a:srgbClr val="334155"/>
                </a:solidFill>
              </a:rPr>
              <a:t> 부작용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08376" y="1097280"/>
            <a:ext cx="2679192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008376" y="1097280"/>
            <a:ext cx="54864" cy="3474720"/>
          </a:xfrm>
          <a:prstGeom prst="rect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118104" y="11704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</a:rPr>
              <a:t>💡  해결 전략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18104" y="1481328"/>
            <a:ext cx="25146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콜린알포세레이트(Alpha-GPC) 방법론 적용: 글라이세롤포스페이트 모이어티 결합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L-세린-O-인산-O-글라이세롤 구조 형성 → 지질친화성↑, 인지질 수송 경로 이용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뇌 내 효소(포스포리파제) 분해 → L-세린 + 글라이세롤-3-인산 동시 유리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포스파티딜세린(PS) 생합성 촉진 + NMDA 공동효능제(D-세린) 공급 이중 시너지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15584" y="1097280"/>
            <a:ext cx="2679192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815584" y="1097280"/>
            <a:ext cx="54864" cy="3474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925312" y="11704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</a:rPr>
              <a:t>🏆  경쟁 우위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25312" y="1481328"/>
            <a:ext cx="25146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Alpha-GPC 대비: 콜린 대신 세린 전달 — 뇌 신경 특이적 기능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포스파티딜세린(PS) 대비: 분자량 小, 경구 흡수↑, BBB 직접 투과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L-세린 단독 대비: 인지질 수송 경로 추가 개방 → Papp 2~5배 향상 예상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조성물 특허 + 방법 특허 + 진보성 3축 </a:t>
            </a:r>
            <a:r>
              <a:rPr lang="en-US" sz="950" dirty="0" err="1">
                <a:solidFill>
                  <a:srgbClr val="334155"/>
                </a:solidFill>
              </a:rPr>
              <a:t>확보</a:t>
            </a:r>
            <a:r>
              <a:rPr lang="en-US" sz="950" dirty="0">
                <a:solidFill>
                  <a:srgbClr val="334155"/>
                </a:solidFill>
              </a:rPr>
              <a:t> </a:t>
            </a:r>
            <a:r>
              <a:rPr lang="en-US" sz="950" dirty="0" err="1">
                <a:solidFill>
                  <a:srgbClr val="334155"/>
                </a:solidFill>
              </a:rPr>
              <a:t>가능</a:t>
            </a:r>
            <a:endParaRPr lang="en-US" sz="950" dirty="0">
              <a:solidFill>
                <a:srgbClr val="334155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950" dirty="0"/>
              <a:t>BBB</a:t>
            </a:r>
            <a:r>
              <a:rPr lang="ko-KR" altLang="en-US" sz="950" dirty="0"/>
              <a:t> 투과 대폭 개선 </a:t>
            </a:r>
            <a:r>
              <a:rPr lang="en-US" altLang="ko-KR" sz="950" dirty="0"/>
              <a:t>– tablet </a:t>
            </a:r>
            <a:r>
              <a:rPr lang="ko-KR" altLang="en-US" sz="950" dirty="0"/>
              <a:t>복용 편의성 극대화 </a:t>
            </a:r>
            <a:r>
              <a:rPr lang="en-US" altLang="ko-KR" sz="950" dirty="0"/>
              <a:t>(~20g</a:t>
            </a:r>
            <a:r>
              <a:rPr lang="ko-KR" altLang="en-US" sz="950" dirty="0"/>
              <a:t> </a:t>
            </a:r>
            <a:r>
              <a:rPr lang="en-US" altLang="ko-KR" sz="950" dirty="0"/>
              <a:t>solution</a:t>
            </a:r>
            <a:r>
              <a:rPr lang="ko-KR" altLang="en-US" sz="950" dirty="0"/>
              <a:t> </a:t>
            </a:r>
            <a:r>
              <a:rPr lang="en-US" altLang="ko-KR" sz="950" dirty="0"/>
              <a:t>vs.</a:t>
            </a:r>
            <a:r>
              <a:rPr lang="ko-KR" altLang="en-US" sz="950" dirty="0"/>
              <a:t> 하루 아침 저녁 </a:t>
            </a:r>
            <a:r>
              <a:rPr lang="en-US" altLang="ko-KR" sz="950" dirty="0"/>
              <a:t>1~2</a:t>
            </a:r>
            <a:r>
              <a:rPr lang="ko-KR" altLang="en-US" sz="950" dirty="0"/>
              <a:t>알</a:t>
            </a:r>
            <a:r>
              <a:rPr lang="en-US" altLang="ko-KR" sz="950" dirty="0"/>
              <a:t>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64008" cy="503834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01168" y="1645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</a:rPr>
              <a:t>Alpha-GPC 메커니즘 — 적용 기준 사례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777240"/>
            <a:ext cx="1463040" cy="25603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01168" y="777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참조 모델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51560"/>
            <a:ext cx="4114800" cy="2377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0" y="1124712"/>
            <a:ext cx="365760" cy="365760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572000" y="1124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①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0" y="1097280"/>
            <a:ext cx="3840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0" y="1097280"/>
            <a:ext cx="45720" cy="713232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138928" y="112471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경구 복용 후 소장 흡수 → 혈중 글라이세로포스포콜린(GPC) 형태로 순환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0" y="2002536"/>
            <a:ext cx="365760" cy="3657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572000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②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0" y="1975104"/>
            <a:ext cx="3840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5029200" y="1975104"/>
            <a:ext cx="45720" cy="71323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138928" y="2002536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인지질 수송 경로 이용 → BBB 지질 이중층을 수동 확산 및 LPC 수송체 통해 투과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0" y="2880360"/>
            <a:ext cx="365760" cy="365760"/>
          </a:xfrm>
          <a:prstGeom prst="ellipse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5720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③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0" y="2852928"/>
            <a:ext cx="3840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5029200" y="2852928"/>
            <a:ext cx="45720" cy="713232"/>
          </a:xfrm>
          <a:prstGeom prst="rect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5138928" y="288036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뇌 내 포스포리파제 D 분해 → 콜린 + 글라이세롤-3-인산 동시 유리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72000" y="3758184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457200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④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029200" y="3730752"/>
            <a:ext cx="3840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5029200" y="3730752"/>
            <a:ext cx="4572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5138928" y="3758184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콜린 → 아세틸콜린 합성, 글라이세롤-3-인산 → 포스파티딜콜린 막 강화 (이중 시너지)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01168" y="4389120"/>
            <a:ext cx="8741664" cy="548640"/>
          </a:xfrm>
          <a:prstGeom prst="rect">
            <a:avLst/>
          </a:prstGeom>
          <a:solidFill>
            <a:srgbClr val="1282A2">
              <a:alpha val="90000"/>
            </a:srgbClr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320040" y="43891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💡  핵심 인사이트: Alpha-GPC의 우수한 뇌 전달력의 원천은 '인지질 유사 구조'를 통한 이중층 투과 + 뇌 내 이중 활성 물질 유리 → 이 원리를 L-</a:t>
            </a:r>
            <a:r>
              <a:rPr lang="en-US" sz="1000" dirty="0" err="1">
                <a:solidFill>
                  <a:srgbClr val="FFFFFF"/>
                </a:solidFill>
              </a:rPr>
              <a:t>세린에</a:t>
            </a:r>
            <a:r>
              <a:rPr lang="en-US" sz="1000" dirty="0">
                <a:solidFill>
                  <a:srgbClr val="FFFFFF"/>
                </a:solidFill>
              </a:rPr>
              <a:t>  </a:t>
            </a:r>
            <a:r>
              <a:rPr lang="en-US" sz="1000" dirty="0" err="1">
                <a:solidFill>
                  <a:srgbClr val="FFFFFF"/>
                </a:solidFill>
              </a:rPr>
              <a:t>그대로</a:t>
            </a:r>
            <a:r>
              <a:rPr lang="en-US" sz="1000" dirty="0">
                <a:solidFill>
                  <a:srgbClr val="FFFFFF"/>
                </a:solidFill>
              </a:rPr>
              <a:t> 적용하는 </a:t>
            </a:r>
            <a:r>
              <a:rPr lang="en-US" sz="1000" dirty="0" err="1">
                <a:solidFill>
                  <a:srgbClr val="FFFFFF"/>
                </a:solidFill>
              </a:rPr>
              <a:t>것이</a:t>
            </a:r>
            <a:r>
              <a:rPr lang="en-US" sz="1000" dirty="0">
                <a:solidFill>
                  <a:srgbClr val="FFFFFF"/>
                </a:solidFill>
              </a:rPr>
              <a:t> LS 001-GP 전략의 핵심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01168" y="164592"/>
            <a:ext cx="8741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구조식 비교: L-세린 vs L-세린 글라이세롤포스페이트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713232"/>
            <a:ext cx="4160520" cy="402336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01168" y="713232"/>
            <a:ext cx="4160520" cy="347472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L-Serine  (AST-001)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0"/>
            <a:ext cx="3931920" cy="2194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33832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SMILES: N[C@@H](CO)C(=O)O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74320" y="3611880"/>
            <a:ext cx="1920240" cy="164592"/>
          </a:xfrm>
          <a:prstGeom prst="rect">
            <a:avLst/>
          </a:prstGeom>
          <a:solidFill>
            <a:srgbClr val="EEF2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194560" y="3611880"/>
            <a:ext cx="201168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292608" y="3611880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</a:rPr>
              <a:t>분자량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212848" y="3611880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105.09 Da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74320" y="3794760"/>
            <a:ext cx="1920240" cy="164592"/>
          </a:xfrm>
          <a:prstGeom prst="rect">
            <a:avLst/>
          </a:prstGeom>
          <a:solidFill>
            <a:srgbClr val="EEF2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2194560" y="3794760"/>
            <a:ext cx="201168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292608" y="3794760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</a:rPr>
              <a:t>LogP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212848" y="3794760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-2.74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74320" y="3977640"/>
            <a:ext cx="1920240" cy="164592"/>
          </a:xfrm>
          <a:prstGeom prst="rect">
            <a:avLst/>
          </a:prstGeom>
          <a:solidFill>
            <a:srgbClr val="EEF2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2194560" y="3977640"/>
            <a:ext cx="201168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292608" y="3977640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</a:rPr>
              <a:t>TPSA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212848" y="3977640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63.32 Å²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274320" y="4160520"/>
            <a:ext cx="1920240" cy="164592"/>
          </a:xfrm>
          <a:prstGeom prst="rect">
            <a:avLst/>
          </a:prstGeom>
          <a:solidFill>
            <a:srgbClr val="EEF2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2194560" y="4160520"/>
            <a:ext cx="201168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292608" y="4160520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</a:rPr>
              <a:t>HBD/HBA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212848" y="4160520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3 / 4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74320" y="4343400"/>
            <a:ext cx="1920240" cy="164592"/>
          </a:xfrm>
          <a:prstGeom prst="rect">
            <a:avLst/>
          </a:prstGeom>
          <a:solidFill>
            <a:srgbClr val="EEF2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2194560" y="4343400"/>
            <a:ext cx="201168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292608" y="4343400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</a:rPr>
              <a:t>Lipinski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212848" y="4343400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Pass ✓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74320" y="4526280"/>
            <a:ext cx="1920240" cy="164592"/>
          </a:xfrm>
          <a:prstGeom prst="rect">
            <a:avLst/>
          </a:prstGeom>
          <a:solidFill>
            <a:srgbClr val="EEF2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2194560" y="4526280"/>
            <a:ext cx="201168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292608" y="4526280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</a:rPr>
              <a:t>BBB 투과도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2212848" y="4526280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낮음 ⚠️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178808" y="2194560"/>
            <a:ext cx="786384" cy="7863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4178808" y="21945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VS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782312" y="713232"/>
            <a:ext cx="4160520" cy="402336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4782312" y="713232"/>
            <a:ext cx="4160520" cy="347472"/>
          </a:xfrm>
          <a:prstGeom prst="rect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4846320" y="7132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L-Serine Glycerophosphate  (AST-001-GP)</a:t>
            </a:r>
            <a:endParaRPr lang="en-US" sz="110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097280"/>
            <a:ext cx="4059936" cy="219456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4846320" y="33832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SMILES: N[C@@H](COP(=O)(O)OCC(O)CO)C(=O)O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4846320" y="3611880"/>
            <a:ext cx="1920240" cy="164592"/>
          </a:xfrm>
          <a:prstGeom prst="rect">
            <a:avLst/>
          </a:prstGeom>
          <a:solidFill>
            <a:srgbClr val="EEF2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7"/>
          <p:cNvSpPr/>
          <p:nvPr/>
        </p:nvSpPr>
        <p:spPr>
          <a:xfrm>
            <a:off x="6766560" y="3611880"/>
            <a:ext cx="201168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8"/>
          <p:cNvSpPr/>
          <p:nvPr/>
        </p:nvSpPr>
        <p:spPr>
          <a:xfrm>
            <a:off x="4864608" y="3611880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</a:rPr>
              <a:t>분자량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6784848" y="3611880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259.15 Da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4846320" y="3794760"/>
            <a:ext cx="1920240" cy="164592"/>
          </a:xfrm>
          <a:prstGeom prst="rect">
            <a:avLst/>
          </a:prstGeom>
          <a:solidFill>
            <a:srgbClr val="D1FAE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1"/>
          <p:cNvSpPr/>
          <p:nvPr/>
        </p:nvSpPr>
        <p:spPr>
          <a:xfrm>
            <a:off x="6766560" y="3794760"/>
            <a:ext cx="2011680" cy="164592"/>
          </a:xfrm>
          <a:prstGeom prst="rect">
            <a:avLst/>
          </a:prstGeom>
          <a:solidFill>
            <a:srgbClr val="D1FAE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2"/>
          <p:cNvSpPr/>
          <p:nvPr/>
        </p:nvSpPr>
        <p:spPr>
          <a:xfrm>
            <a:off x="4864608" y="3794760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</a:rPr>
              <a:t>LogP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6784848" y="3794760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5F46"/>
                </a:solidFill>
              </a:rPr>
              <a:t>-1.42 (↑)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4846320" y="3977640"/>
            <a:ext cx="1920240" cy="164592"/>
          </a:xfrm>
          <a:prstGeom prst="rect">
            <a:avLst/>
          </a:prstGeom>
          <a:solidFill>
            <a:srgbClr val="EEF2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5"/>
          <p:cNvSpPr/>
          <p:nvPr/>
        </p:nvSpPr>
        <p:spPr>
          <a:xfrm>
            <a:off x="6766560" y="3977640"/>
            <a:ext cx="201168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6"/>
          <p:cNvSpPr/>
          <p:nvPr/>
        </p:nvSpPr>
        <p:spPr>
          <a:xfrm>
            <a:off x="4864608" y="3977640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</a:rPr>
              <a:t>TPSA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6784848" y="3977640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111.9 Å² *</a:t>
            </a:r>
            <a:endParaRPr lang="en-US" sz="800" dirty="0"/>
          </a:p>
        </p:txBody>
      </p:sp>
      <p:sp>
        <p:nvSpPr>
          <p:cNvPr id="52" name="Shape 48"/>
          <p:cNvSpPr/>
          <p:nvPr/>
        </p:nvSpPr>
        <p:spPr>
          <a:xfrm>
            <a:off x="4846320" y="4160520"/>
            <a:ext cx="1920240" cy="164592"/>
          </a:xfrm>
          <a:prstGeom prst="rect">
            <a:avLst/>
          </a:prstGeom>
          <a:solidFill>
            <a:srgbClr val="EEF2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9"/>
          <p:cNvSpPr/>
          <p:nvPr/>
        </p:nvSpPr>
        <p:spPr>
          <a:xfrm>
            <a:off x="6766560" y="4160520"/>
            <a:ext cx="201168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0"/>
          <p:cNvSpPr/>
          <p:nvPr/>
        </p:nvSpPr>
        <p:spPr>
          <a:xfrm>
            <a:off x="4864608" y="4160520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</a:rPr>
              <a:t>HBD/HBA</a:t>
            </a:r>
            <a:endParaRPr lang="en-US" sz="800" dirty="0"/>
          </a:p>
        </p:txBody>
      </p:sp>
      <p:sp>
        <p:nvSpPr>
          <p:cNvPr id="55" name="Text 51"/>
          <p:cNvSpPr/>
          <p:nvPr/>
        </p:nvSpPr>
        <p:spPr>
          <a:xfrm>
            <a:off x="6784848" y="4160520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5 / 8</a:t>
            </a:r>
            <a:endParaRPr lang="en-US" sz="800" dirty="0"/>
          </a:p>
        </p:txBody>
      </p:sp>
      <p:sp>
        <p:nvSpPr>
          <p:cNvPr id="56" name="Shape 52"/>
          <p:cNvSpPr/>
          <p:nvPr/>
        </p:nvSpPr>
        <p:spPr>
          <a:xfrm>
            <a:off x="4846320" y="4343400"/>
            <a:ext cx="1920240" cy="164592"/>
          </a:xfrm>
          <a:prstGeom prst="rect">
            <a:avLst/>
          </a:prstGeom>
          <a:solidFill>
            <a:srgbClr val="EEF2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3"/>
          <p:cNvSpPr/>
          <p:nvPr/>
        </p:nvSpPr>
        <p:spPr>
          <a:xfrm>
            <a:off x="6766560" y="4343400"/>
            <a:ext cx="201168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4"/>
          <p:cNvSpPr/>
          <p:nvPr/>
        </p:nvSpPr>
        <p:spPr>
          <a:xfrm>
            <a:off x="4864608" y="4343400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</a:rPr>
              <a:t>Lipinski</a:t>
            </a:r>
            <a:endParaRPr lang="en-US" sz="800" dirty="0"/>
          </a:p>
        </p:txBody>
      </p:sp>
      <p:sp>
        <p:nvSpPr>
          <p:cNvPr id="59" name="Text 55"/>
          <p:cNvSpPr/>
          <p:nvPr/>
        </p:nvSpPr>
        <p:spPr>
          <a:xfrm>
            <a:off x="6784848" y="4343400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Pass ✓</a:t>
            </a:r>
            <a:endParaRPr lang="en-US" sz="800" dirty="0"/>
          </a:p>
        </p:txBody>
      </p:sp>
      <p:sp>
        <p:nvSpPr>
          <p:cNvPr id="60" name="Shape 56"/>
          <p:cNvSpPr/>
          <p:nvPr/>
        </p:nvSpPr>
        <p:spPr>
          <a:xfrm>
            <a:off x="4846320" y="4526280"/>
            <a:ext cx="1920240" cy="164592"/>
          </a:xfrm>
          <a:prstGeom prst="rect">
            <a:avLst/>
          </a:prstGeom>
          <a:solidFill>
            <a:srgbClr val="D1FAE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7"/>
          <p:cNvSpPr/>
          <p:nvPr/>
        </p:nvSpPr>
        <p:spPr>
          <a:xfrm>
            <a:off x="6766560" y="4526280"/>
            <a:ext cx="2011680" cy="164592"/>
          </a:xfrm>
          <a:prstGeom prst="rect">
            <a:avLst/>
          </a:prstGeom>
          <a:solidFill>
            <a:srgbClr val="D1FAE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8"/>
          <p:cNvSpPr/>
          <p:nvPr/>
        </p:nvSpPr>
        <p:spPr>
          <a:xfrm>
            <a:off x="4864608" y="4526280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</a:rPr>
              <a:t>BBB 투과도</a:t>
            </a:r>
            <a:endParaRPr lang="en-US" sz="800" dirty="0"/>
          </a:p>
        </p:txBody>
      </p:sp>
      <p:sp>
        <p:nvSpPr>
          <p:cNvPr id="63" name="Text 59"/>
          <p:cNvSpPr/>
          <p:nvPr/>
        </p:nvSpPr>
        <p:spPr>
          <a:xfrm>
            <a:off x="6784848" y="4526280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5F46"/>
                </a:solidFill>
              </a:rPr>
              <a:t>향상 예측 ✅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201168" y="4818888"/>
            <a:ext cx="87416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0AAC0"/>
                </a:solidFill>
              </a:rPr>
              <a:t>* TPSA는 높지만 인지질 수송 경로를 통해 BBB 투과 가능 (Alpha-GPC 유사 메커니즘)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64008" cy="5038344"/>
          </a:xfrm>
          <a:prstGeom prst="rect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01168" y="164592"/>
            <a:ext cx="8741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</a:rPr>
              <a:t>AST-001-GP 이중 작용 메커니즘 (Dual-Action)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777240"/>
            <a:ext cx="1463040" cy="256032"/>
          </a:xfrm>
          <a:prstGeom prst="rect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01168" y="777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작용 메커니즘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" y="10058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01168" y="10058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경구 투여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AST-001-GP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38528" y="1417320"/>
            <a:ext cx="38404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121408" y="10058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121408" y="10058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소장 흡수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혈중 유입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58768" y="1417320"/>
            <a:ext cx="38404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041648" y="10058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041648" y="10058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BBB 투과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(인지질 경로)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79008" y="1417320"/>
            <a:ext cx="38404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961888" y="10058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961888" y="10058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포스포리파제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분해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699248" y="1417320"/>
            <a:ext cx="38404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516368" y="10058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516368" y="10058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이중 유리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뇌 내 작용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02168" y="1828800"/>
            <a:ext cx="0" cy="4572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858000" y="2286000"/>
            <a:ext cx="2697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01168" y="2331720"/>
            <a:ext cx="4114800" cy="2286000"/>
          </a:xfrm>
          <a:prstGeom prst="rect">
            <a:avLst/>
          </a:prstGeom>
          <a:solidFill>
            <a:srgbClr val="E8F0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01168" y="2331720"/>
            <a:ext cx="4114800" cy="36576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74320" y="2331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경로 ①  L-세린 유리 → 신경 기능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274320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D-세린 합성 촉진 → NMDA 수용체 공동작용제 (학습·기억 관련 신경가소성)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세린팔미토일전달효소(SPT) 기질 → 스핑고리피드 생합성 → 신경 미엘린 보호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PHGDH 결핍 환자 등 선천성 세린 부족 질환 치료 가능성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28032" y="2331720"/>
            <a:ext cx="4114800" cy="2286000"/>
          </a:xfrm>
          <a:prstGeom prst="rect">
            <a:avLst/>
          </a:prstGeom>
          <a:solidFill>
            <a:srgbClr val="E8F0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828032" y="2331720"/>
            <a:ext cx="4114800" cy="365760"/>
          </a:xfrm>
          <a:prstGeom prst="rect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901184" y="2331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경로 ②  글라이세롤-3-인산 유리 → 막 강화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01184" y="274320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포스파티딜세린(PS) 생합성 기질 → 신경 세포막 유동성·무결성 향상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포스파티딜콜린·포스파티딜에탄올아민 공급 → 시냅스 막 리모델링 지원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글라이세롤-3-인산 → 에너지 대사 경로(DHAP 전구체) 공급 → 신경 보호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33088" y="2971800"/>
            <a:ext cx="694944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133088" y="2971800"/>
            <a:ext cx="694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시너지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효과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64008" cy="503834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01168" y="164592"/>
            <a:ext cx="8741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</a:rPr>
              <a:t>BBB 투과도 향상 근거 및 예측 메커니즘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777240"/>
            <a:ext cx="1463040" cy="256032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01168" y="777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BBB 과학적 근거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" y="1097280"/>
            <a:ext cx="2807208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01168" y="1097280"/>
            <a:ext cx="2807208" cy="41148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92608" y="109728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① 인지질 수송 경로 활용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608" y="1554480"/>
            <a:ext cx="2651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포스포에스터 결합 도입 → 인지질 유사 구조 부여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LPC(라이소포스파티딜콜린) 수송체(SLC25A17, Mfsd2a) 유사 기질 가능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Alpha-GPC의 BBB 투과 메커니즘과 구조적 동일 원리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수동 확산 + 능동 수송 이중 경로 개방 (시너지)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99816" y="1097280"/>
            <a:ext cx="2807208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099816" y="1097280"/>
            <a:ext cx="2807208" cy="411480"/>
          </a:xfrm>
          <a:prstGeom prst="rect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191256" y="109728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② 지질친화성 최적화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91256" y="1554480"/>
            <a:ext cx="2651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L-세린(LogP -2.74) → AST-001-GP(LogP -1.42): 약 1.3 단위 향상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인지질 bilayer 파티셔닝 계수(Kp) 증가 예측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Papp(PAMPA assay) 2~5배 향상 기대 (Alpha-GPC 선례 기반)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TPSA 증가는 인지질 경로 이용 시 극복 가능 (Alpha-GPC 선례)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98464" y="1097280"/>
            <a:ext cx="2807208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998464" y="1097280"/>
            <a:ext cx="2807208" cy="4114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089904" y="109728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③ 프로드럭 전략의 과학적 근거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89904" y="1554480"/>
            <a:ext cx="2651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98%+ CNS 약물이 BBB 투과 실패 → 프로드럭 가장 검증된 해결책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뇌 내 포스포리파제 D·C 풍부 분포 → 선택적 뇌 내 분해 가능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말초 조기 분해 최소화 구조 설계 가능 (에스터 결합 안정성 조절)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유사 구조 GPC 선례: 뇌 내 24시간 내 인지질 편입 확인 (동물 실험)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1168" y="4526280"/>
            <a:ext cx="8741664" cy="502920"/>
          </a:xfrm>
          <a:prstGeom prst="rect">
            <a:avLst/>
          </a:prstGeom>
          <a:solidFill>
            <a:srgbClr val="0B2545">
              <a:alpha val="90000"/>
            </a:srgbClr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0040" y="45262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📊  검증 계획: in vitro PAMPA assay → Caco-2 세포 투과 실험 → 래트 뇌 내 농도 측정(CSF 및 뇌 조직 LC-MS/MS) → 임상 PK 연구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01168" y="164592"/>
            <a:ext cx="8741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경쟁 우위 분석 — Competitive Landscape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749808"/>
            <a:ext cx="1444752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01168" y="74980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화합물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664208" y="749808"/>
            <a:ext cx="1353312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664208" y="74980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주요 타겟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035808" y="749808"/>
            <a:ext cx="896112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035808" y="749808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BBB 투과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950208" y="749808"/>
            <a:ext cx="896112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950208" y="749808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세린 전달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64608" y="749808"/>
            <a:ext cx="1078992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64608" y="74980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인지질 시너지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61888" y="749808"/>
            <a:ext cx="896112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61888" y="749808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특허 상태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76288" y="749808"/>
            <a:ext cx="2048256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76288" y="74980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AST-001-GP 우위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1168" y="1133856"/>
            <a:ext cx="1444752" cy="621792"/>
          </a:xfrm>
          <a:prstGeom prst="rect">
            <a:avLst/>
          </a:prstGeom>
          <a:solidFill>
            <a:srgbClr val="1A3E64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46888" y="1133856"/>
            <a:ext cx="1353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L-세린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(AST-001)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664208" y="1133856"/>
            <a:ext cx="1353312" cy="621792"/>
          </a:xfrm>
          <a:prstGeom prst="rect">
            <a:avLst/>
          </a:prstGeom>
          <a:solidFill>
            <a:srgbClr val="1A3E64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709928" y="1133856"/>
            <a:ext cx="1261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뇌 세린 공급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신경 보호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035808" y="1133856"/>
            <a:ext cx="896112" cy="621792"/>
          </a:xfrm>
          <a:prstGeom prst="rect">
            <a:avLst/>
          </a:prstGeom>
          <a:solidFill>
            <a:srgbClr val="1A3E64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081528" y="1133856"/>
            <a:ext cx="804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낮음 ❌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950208" y="1133856"/>
            <a:ext cx="896112" cy="621792"/>
          </a:xfrm>
          <a:prstGeom prst="rect">
            <a:avLst/>
          </a:prstGeom>
          <a:solidFill>
            <a:srgbClr val="1A3E64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995928" y="1133856"/>
            <a:ext cx="804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직접 전달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64608" y="1133856"/>
            <a:ext cx="1078992" cy="621792"/>
          </a:xfrm>
          <a:prstGeom prst="rect">
            <a:avLst/>
          </a:prstGeom>
          <a:solidFill>
            <a:srgbClr val="1A3E64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910328" y="1133856"/>
            <a:ext cx="987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없음 ✗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61888" y="1133856"/>
            <a:ext cx="896112" cy="621792"/>
          </a:xfrm>
          <a:prstGeom prst="rect">
            <a:avLst/>
          </a:prstGeom>
          <a:solidFill>
            <a:srgbClr val="1A3E64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007608" y="1133856"/>
            <a:ext cx="804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원료 공개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76288" y="1133856"/>
            <a:ext cx="2048256" cy="621792"/>
          </a:xfrm>
          <a:prstGeom prst="rect">
            <a:avLst/>
          </a:prstGeom>
          <a:solidFill>
            <a:srgbClr val="1A3E64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922008" y="1133856"/>
            <a:ext cx="1956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BBB 투과↑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이중 메커니즘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1168" y="1773936"/>
            <a:ext cx="1444752" cy="621792"/>
          </a:xfrm>
          <a:prstGeom prst="rect">
            <a:avLst/>
          </a:prstGeom>
          <a:solidFill>
            <a:srgbClr val="152D4D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246888" y="1773936"/>
            <a:ext cx="1353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Alpha-GPC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(콜린알포세레이트)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664208" y="1773936"/>
            <a:ext cx="1353312" cy="621792"/>
          </a:xfrm>
          <a:prstGeom prst="rect">
            <a:avLst/>
          </a:prstGeom>
          <a:solidFill>
            <a:srgbClr val="152D4D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709928" y="1773936"/>
            <a:ext cx="1261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콜린 전달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인지 기능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035808" y="1773936"/>
            <a:ext cx="896112" cy="621792"/>
          </a:xfrm>
          <a:prstGeom prst="rect">
            <a:avLst/>
          </a:prstGeom>
          <a:solidFill>
            <a:srgbClr val="152D4D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081528" y="1773936"/>
            <a:ext cx="804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높음 ✅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950208" y="1773936"/>
            <a:ext cx="896112" cy="621792"/>
          </a:xfrm>
          <a:prstGeom prst="rect">
            <a:avLst/>
          </a:prstGeom>
          <a:solidFill>
            <a:srgbClr val="152D4D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3995928" y="1773936"/>
            <a:ext cx="804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없음 ✗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64608" y="1773936"/>
            <a:ext cx="1078992" cy="621792"/>
          </a:xfrm>
          <a:prstGeom prst="rect">
            <a:avLst/>
          </a:prstGeom>
          <a:solidFill>
            <a:srgbClr val="152D4D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910328" y="1773936"/>
            <a:ext cx="987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PC 합성 ✅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961888" y="1773936"/>
            <a:ext cx="896112" cy="621792"/>
          </a:xfrm>
          <a:prstGeom prst="rect">
            <a:avLst/>
          </a:prstGeom>
          <a:solidFill>
            <a:srgbClr val="152D4D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007608" y="1773936"/>
            <a:ext cx="804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특허 만료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876288" y="1773936"/>
            <a:ext cx="2048256" cy="621792"/>
          </a:xfrm>
          <a:prstGeom prst="rect">
            <a:avLst/>
          </a:prstGeom>
          <a:solidFill>
            <a:srgbClr val="152D4D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6922008" y="1773936"/>
            <a:ext cx="1956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세린 특이적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신경 기능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01168" y="2414016"/>
            <a:ext cx="1444752" cy="621792"/>
          </a:xfrm>
          <a:prstGeom prst="rect">
            <a:avLst/>
          </a:prstGeom>
          <a:solidFill>
            <a:srgbClr val="1A3E64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246888" y="2414016"/>
            <a:ext cx="1353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포스파티딜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세린 (PS)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664208" y="2414016"/>
            <a:ext cx="1353312" cy="621792"/>
          </a:xfrm>
          <a:prstGeom prst="rect">
            <a:avLst/>
          </a:prstGeom>
          <a:solidFill>
            <a:srgbClr val="1A3E64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1709928" y="2414016"/>
            <a:ext cx="1261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신경 막 강화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AD 예방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035808" y="2414016"/>
            <a:ext cx="896112" cy="621792"/>
          </a:xfrm>
          <a:prstGeom prst="rect">
            <a:avLst/>
          </a:prstGeom>
          <a:solidFill>
            <a:srgbClr val="1A3E64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3081528" y="2414016"/>
            <a:ext cx="804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일부 ⚠️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950208" y="2414016"/>
            <a:ext cx="896112" cy="621792"/>
          </a:xfrm>
          <a:prstGeom prst="rect">
            <a:avLst/>
          </a:prstGeom>
          <a:solidFill>
            <a:srgbClr val="1A3E64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3995928" y="2414016"/>
            <a:ext cx="804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간접적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864608" y="2414016"/>
            <a:ext cx="1078992" cy="621792"/>
          </a:xfrm>
          <a:prstGeom prst="rect">
            <a:avLst/>
          </a:prstGeom>
          <a:solidFill>
            <a:srgbClr val="1A3E64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4910328" y="2414016"/>
            <a:ext cx="987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PS 공급 ✅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961888" y="2414016"/>
            <a:ext cx="896112" cy="621792"/>
          </a:xfrm>
          <a:prstGeom prst="rect">
            <a:avLst/>
          </a:prstGeom>
          <a:solidFill>
            <a:srgbClr val="1A3E64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6007608" y="2414016"/>
            <a:ext cx="804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일부 특허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876288" y="2414016"/>
            <a:ext cx="2048256" cy="621792"/>
          </a:xfrm>
          <a:prstGeom prst="rect">
            <a:avLst/>
          </a:prstGeom>
          <a:solidFill>
            <a:srgbClr val="1A3E64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6922008" y="2414016"/>
            <a:ext cx="1956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소분자, 경구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흡수 우위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01168" y="3054096"/>
            <a:ext cx="1444752" cy="621792"/>
          </a:xfrm>
          <a:prstGeom prst="rect">
            <a:avLst/>
          </a:prstGeom>
          <a:solidFill>
            <a:srgbClr val="152D4D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246888" y="3054096"/>
            <a:ext cx="1353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D-세린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664208" y="3054096"/>
            <a:ext cx="1353312" cy="621792"/>
          </a:xfrm>
          <a:prstGeom prst="rect">
            <a:avLst/>
          </a:prstGeom>
          <a:solidFill>
            <a:srgbClr val="152D4D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1709928" y="3054096"/>
            <a:ext cx="1261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NMDA 공동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작용제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035808" y="3054096"/>
            <a:ext cx="896112" cy="621792"/>
          </a:xfrm>
          <a:prstGeom prst="rect">
            <a:avLst/>
          </a:prstGeom>
          <a:solidFill>
            <a:srgbClr val="152D4D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3081528" y="3054096"/>
            <a:ext cx="804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중등도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950208" y="3054096"/>
            <a:ext cx="896112" cy="621792"/>
          </a:xfrm>
          <a:prstGeom prst="rect">
            <a:avLst/>
          </a:prstGeom>
          <a:solidFill>
            <a:srgbClr val="152D4D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3995928" y="3054096"/>
            <a:ext cx="804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없음 ✗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864608" y="3054096"/>
            <a:ext cx="1078992" cy="621792"/>
          </a:xfrm>
          <a:prstGeom prst="rect">
            <a:avLst/>
          </a:prstGeom>
          <a:solidFill>
            <a:srgbClr val="152D4D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4910328" y="3054096"/>
            <a:ext cx="987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없음 ✗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961888" y="3054096"/>
            <a:ext cx="896112" cy="621792"/>
          </a:xfrm>
          <a:prstGeom prst="rect">
            <a:avLst/>
          </a:prstGeom>
          <a:solidFill>
            <a:srgbClr val="152D4D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6007608" y="3054096"/>
            <a:ext cx="804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연구 단계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876288" y="3054096"/>
            <a:ext cx="2048256" cy="621792"/>
          </a:xfrm>
          <a:prstGeom prst="rect">
            <a:avLst/>
          </a:prstGeom>
          <a:solidFill>
            <a:srgbClr val="152D4D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6922008" y="3054096"/>
            <a:ext cx="1956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L형 공급 →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내인성 전환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01168" y="3694176"/>
            <a:ext cx="1444752" cy="621792"/>
          </a:xfrm>
          <a:prstGeom prst="rect">
            <a:avLst/>
          </a:prstGeom>
          <a:solidFill>
            <a:srgbClr val="0ACDAD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246888" y="3694176"/>
            <a:ext cx="1353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LS-001-GP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(제안)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664208" y="3694176"/>
            <a:ext cx="1353312" cy="621792"/>
          </a:xfrm>
          <a:prstGeom prst="rect">
            <a:avLst/>
          </a:prstGeom>
          <a:solidFill>
            <a:srgbClr val="0ACDAD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1709928" y="3694176"/>
            <a:ext cx="1261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뇌 세린 공급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막 강화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035808" y="3694176"/>
            <a:ext cx="896112" cy="621792"/>
          </a:xfrm>
          <a:prstGeom prst="rect">
            <a:avLst/>
          </a:prstGeom>
          <a:solidFill>
            <a:srgbClr val="0ACDAD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3081528" y="3694176"/>
            <a:ext cx="804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높음 ✅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950208" y="3694176"/>
            <a:ext cx="896112" cy="621792"/>
          </a:xfrm>
          <a:prstGeom prst="rect">
            <a:avLst/>
          </a:prstGeom>
          <a:solidFill>
            <a:srgbClr val="0ACDAD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3995928" y="3694176"/>
            <a:ext cx="804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고효율 ✅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864608" y="3694176"/>
            <a:ext cx="1078992" cy="621792"/>
          </a:xfrm>
          <a:prstGeom prst="rect">
            <a:avLst/>
          </a:prstGeom>
          <a:solidFill>
            <a:srgbClr val="0ACDAD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910328" y="3694176"/>
            <a:ext cx="987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PS·PC 시너지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✅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961888" y="3694176"/>
            <a:ext cx="896112" cy="621792"/>
          </a:xfrm>
          <a:prstGeom prst="rect">
            <a:avLst/>
          </a:prstGeom>
          <a:solidFill>
            <a:srgbClr val="0ACDAD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/>
          <p:nvPr/>
        </p:nvSpPr>
        <p:spPr>
          <a:xfrm>
            <a:off x="6007608" y="3694176"/>
            <a:ext cx="8046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신규 특허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가능 🏆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876288" y="3694176"/>
            <a:ext cx="2048256" cy="621792"/>
          </a:xfrm>
          <a:prstGeom prst="rect">
            <a:avLst/>
          </a:prstGeom>
          <a:solidFill>
            <a:srgbClr val="0ACDAD"/>
          </a:solidFill>
          <a:ln w="635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/>
          <p:nvPr/>
        </p:nvSpPr>
        <p:spPr>
          <a:xfrm>
            <a:off x="6922008" y="3694176"/>
            <a:ext cx="1956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— 최고의 프로파일 —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201168" y="4498848"/>
            <a:ext cx="8741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★  AST-001-GP는 세린 전달 + 인지질 시너지 + 높은 BBB 투과를 동시에 갖춘 유일한 후보물질입니다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64008" cy="50383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01168" y="164592"/>
            <a:ext cx="8741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</a:rPr>
              <a:t>특허 전략 — 진보성 확보 방안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777240"/>
            <a:ext cx="14630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01168" y="777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특허 전략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" y="1097280"/>
            <a:ext cx="2807208" cy="356616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01168" y="1097280"/>
            <a:ext cx="2807208" cy="47548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4320" y="10972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조성물 특허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(Composition)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" y="1700784"/>
            <a:ext cx="201168" cy="20116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92608" y="1700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1655064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L-세린-O-글라이세롤포스페이트 에스터 신규 화합물 (청구항 1)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2608" y="2395728"/>
            <a:ext cx="201168" cy="20116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92608" y="2395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235000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광학이성질체(S형), 염(나트륨, 칼슘) 포함 청구 범위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2608" y="3090672"/>
            <a:ext cx="201168" cy="20116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92608" y="30906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304495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제형 특허: 경구용, 비경구용, 서방형 포함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2608" y="3785616"/>
            <a:ext cx="201168" cy="20116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92608" y="37856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3739896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프로드럭으로의 설계 개념 포함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191256" y="1097280"/>
            <a:ext cx="2807208" cy="356616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191256" y="1097280"/>
            <a:ext cx="2807208" cy="475488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264408" y="10972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방법 특허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(Method of Use)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82696" y="1700784"/>
            <a:ext cx="201168" cy="201168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282696" y="1700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538728" y="1655064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BBB 투과 향상 방법으로서의 적용 청구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82696" y="2395728"/>
            <a:ext cx="201168" cy="201168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282696" y="2395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538728" y="235000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신경퇴행성 질환(ALS, 알츠하이머, 파킨슨) 치료 방법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82696" y="3090672"/>
            <a:ext cx="201168" cy="201168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282696" y="30906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538728" y="304495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선천성 세린 결핍(PHGDH 결핍증, SLC1A4 변이) 치료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82696" y="3785616"/>
            <a:ext cx="201168" cy="201168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3282696" y="37856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538728" y="3739896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NMDA 수용체 기능 향상을 통한 신경 기능 개선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81344" y="1097280"/>
            <a:ext cx="2807208" cy="356616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181344" y="1097280"/>
            <a:ext cx="2807208" cy="475488"/>
          </a:xfrm>
          <a:prstGeom prst="rect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254496" y="10972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진보성 근거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(Inventive Step)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72784" y="1700784"/>
            <a:ext cx="201168" cy="201168"/>
          </a:xfrm>
          <a:prstGeom prst="ellipse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272784" y="1700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528816" y="1655064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Alpha-GPC의 콜린 → L-세린으로의 치환: 비자명적(Non-obvious)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72784" y="2395728"/>
            <a:ext cx="201168" cy="201168"/>
          </a:xfrm>
          <a:prstGeom prst="ellipse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272784" y="2395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528816" y="235000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예상치 못한 효과: 이중 메커니즘 (세린 + 인지질 전구체)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272784" y="3090672"/>
            <a:ext cx="201168" cy="201168"/>
          </a:xfrm>
          <a:prstGeom prst="ellipse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272784" y="30906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528816" y="304495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BBB 투과도 정량적 개선 데이터 (PAMPA 등)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72784" y="3785616"/>
            <a:ext cx="201168" cy="201168"/>
          </a:xfrm>
          <a:prstGeom prst="ellipse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6272784" y="37856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528816" y="3739896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CNS 농도 증가 in vivo 데이터로 진보성 입증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64008" cy="503834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01168" y="164592"/>
            <a:ext cx="8741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</a:rPr>
              <a:t>특허 청구범위 구조 — Claim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777240"/>
            <a:ext cx="1463040" cy="25603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01168" y="777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청구범위 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" y="1005840"/>
            <a:ext cx="8741664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92608" y="10058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독립 청구항 (Independent Claims)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" y="1371600"/>
            <a:ext cx="8741664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01168" y="1371600"/>
            <a:ext cx="1005840" cy="64008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01168" y="1371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청구항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80160" y="1389888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하기 구조를 갖는 L-세린 글라이세롤포스페이트 화합물 또는 이의 약학적으로 허용가능한 염: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N[C@@H](COP(=O)(OH)OCC(OH)CO)C(=O)O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1168" y="2057400"/>
            <a:ext cx="8741664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01168" y="2057400"/>
            <a:ext cx="1005840" cy="64008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01168" y="20574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청구항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80160" y="2075688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청구항 1의 화합물을 유효성분으로 포함하는 혈뇌장벽(BBB) 투과 향상용 약학적 조성물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1168" y="2743200"/>
            <a:ext cx="8741664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01168" y="2743200"/>
            <a:ext cx="1005840" cy="64008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01168" y="27432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청구항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80160" y="2761488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청구항 1의 화합물을 유효성분으로 포함하는 신경퇴행성 질환 예방 또는 치료용 약학적 조성물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1168" y="3474720"/>
            <a:ext cx="8741664" cy="347472"/>
          </a:xfrm>
          <a:prstGeom prst="rect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92608" y="34747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종속 청구항 (Dependent Claims) — 진보성 강화 전략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" y="3922776"/>
            <a:ext cx="274320" cy="274320"/>
          </a:xfrm>
          <a:prstGeom prst="ellipse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201168" y="3922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0352" y="39044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서방형 제형 (controlled-release formulation) — 뇌 내 지속 농도 유지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90288" y="3922776"/>
            <a:ext cx="274320" cy="274320"/>
          </a:xfrm>
          <a:prstGeom prst="ellipse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90288" y="3922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19472" y="39044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ALS·PHGDH 결핍증·SLC1A4 변이 관련 신경 질환 치료 방법 (Method claim)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1168" y="4379976"/>
            <a:ext cx="274320" cy="274320"/>
          </a:xfrm>
          <a:prstGeom prst="ellipse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201168" y="4379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0352" y="43616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리포솜 또는 나노입자 제형을 통한 BBB 투과 더욱 향상 조성물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90288" y="4379976"/>
            <a:ext cx="274320" cy="274320"/>
          </a:xfrm>
          <a:prstGeom prst="ellipse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90288" y="4379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7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19472" y="43616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D-세린 병용 투여를 통한 NMDA 수용체 기능 증진 조합물 (Combination)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01168" y="164592"/>
            <a:ext cx="8741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개발 로드맵 — Development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749808"/>
            <a:ext cx="2103120" cy="50292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01168" y="749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합성·검증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" y="10515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0 ~ 3M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1325880"/>
            <a:ext cx="2103120" cy="914400"/>
          </a:xfrm>
          <a:prstGeom prst="rect">
            <a:avLst/>
          </a:prstGeom>
          <a:solidFill>
            <a:srgbClr val="162C4A"/>
          </a:solidFill>
          <a:ln w="889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01168" y="1325880"/>
            <a:ext cx="2103120" cy="54864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92608" y="1417320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AST-001-GP 합성 최적화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(수율·순도 95%+)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1168" y="2377440"/>
            <a:ext cx="2103120" cy="914400"/>
          </a:xfrm>
          <a:prstGeom prst="rect">
            <a:avLst/>
          </a:prstGeom>
          <a:solidFill>
            <a:srgbClr val="162C4A"/>
          </a:solidFill>
          <a:ln w="889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01168" y="2377440"/>
            <a:ext cx="2103120" cy="54864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92608" y="2468880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물리화학적 특성 분석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(LogP, 용해도, 안정성)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1168" y="3429000"/>
            <a:ext cx="2103120" cy="914400"/>
          </a:xfrm>
          <a:prstGeom prst="rect">
            <a:avLst/>
          </a:prstGeom>
          <a:solidFill>
            <a:srgbClr val="162C4A"/>
          </a:solidFill>
          <a:ln w="889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01168" y="3429000"/>
            <a:ext cx="2103120" cy="54864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92608" y="3520440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PAMPA / Caco-2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BBB in vitro 투과 측정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304288" y="1005840"/>
            <a:ext cx="73152" cy="0"/>
          </a:xfrm>
          <a:prstGeom prst="line">
            <a:avLst/>
          </a:prstGeom>
          <a:noFill/>
          <a:ln w="19050">
            <a:solidFill>
              <a:srgbClr val="4A60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377440" y="749808"/>
            <a:ext cx="2103120" cy="502920"/>
          </a:xfrm>
          <a:prstGeom prst="rect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377440" y="749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 vivo PK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10515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3 ~ 6M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377440" y="1325880"/>
            <a:ext cx="2103120" cy="914400"/>
          </a:xfrm>
          <a:prstGeom prst="rect">
            <a:avLst/>
          </a:prstGeom>
          <a:solidFill>
            <a:srgbClr val="162C4A"/>
          </a:solidFill>
          <a:ln w="889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2377440" y="1325880"/>
            <a:ext cx="2103120" cy="54864"/>
          </a:xfrm>
          <a:prstGeom prst="rect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468880" y="1417320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래트 경구 PK 연구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(혈장·CSF·뇌 조직 농도)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377440" y="2377440"/>
            <a:ext cx="2103120" cy="914400"/>
          </a:xfrm>
          <a:prstGeom prst="rect">
            <a:avLst/>
          </a:prstGeom>
          <a:solidFill>
            <a:srgbClr val="162C4A"/>
          </a:solidFill>
          <a:ln w="889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377440" y="2377440"/>
            <a:ext cx="2103120" cy="54864"/>
          </a:xfrm>
          <a:prstGeom prst="rect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468880" y="2468880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대사체 프로파일링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(뇌 내 세린·GP 유리 확인)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377440" y="3429000"/>
            <a:ext cx="2103120" cy="914400"/>
          </a:xfrm>
          <a:prstGeom prst="rect">
            <a:avLst/>
          </a:prstGeom>
          <a:solidFill>
            <a:srgbClr val="162C4A"/>
          </a:solidFill>
          <a:ln w="889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377440" y="3429000"/>
            <a:ext cx="2103120" cy="54864"/>
          </a:xfrm>
          <a:prstGeom prst="rect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468880" y="3520440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독성 예비 평가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(GLP-ready 독성)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480560" y="1005840"/>
            <a:ext cx="73152" cy="0"/>
          </a:xfrm>
          <a:prstGeom prst="line">
            <a:avLst/>
          </a:prstGeom>
          <a:noFill/>
          <a:ln w="19050">
            <a:solidFill>
              <a:srgbClr val="4A60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553712" y="749808"/>
            <a:ext cx="21031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553712" y="749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특허 출원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53712" y="10515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6 ~ 12M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53712" y="1325880"/>
            <a:ext cx="2103120" cy="914400"/>
          </a:xfrm>
          <a:prstGeom prst="rect">
            <a:avLst/>
          </a:prstGeom>
          <a:solidFill>
            <a:srgbClr val="162C4A"/>
          </a:solidFill>
          <a:ln w="889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553712" y="1325880"/>
            <a:ext cx="21031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645152" y="1417320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PCT 국제 출원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(조성물+방법 동시)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53712" y="2377440"/>
            <a:ext cx="2103120" cy="914400"/>
          </a:xfrm>
          <a:prstGeom prst="rect">
            <a:avLst/>
          </a:prstGeom>
          <a:solidFill>
            <a:srgbClr val="162C4A"/>
          </a:solidFill>
          <a:ln w="889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553712" y="2377440"/>
            <a:ext cx="21031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645152" y="2468880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BBB 투과 in vivo 데이터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포함 진보성 보완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53712" y="3429000"/>
            <a:ext cx="2103120" cy="914400"/>
          </a:xfrm>
          <a:prstGeom prst="rect">
            <a:avLst/>
          </a:prstGeom>
          <a:solidFill>
            <a:srgbClr val="162C4A"/>
          </a:solidFill>
          <a:ln w="889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4553712" y="3429000"/>
            <a:ext cx="21031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645152" y="3520440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US·EU·KR·JP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주요 시장 진입 전략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656832" y="1005840"/>
            <a:ext cx="73152" cy="0"/>
          </a:xfrm>
          <a:prstGeom prst="line">
            <a:avLst/>
          </a:prstGeom>
          <a:noFill/>
          <a:ln w="19050">
            <a:solidFill>
              <a:srgbClr val="4A60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6729984" y="749808"/>
            <a:ext cx="2103120" cy="50292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729984" y="749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임상 준비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29984" y="10515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12 ~ 30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729984" y="1325880"/>
            <a:ext cx="2103120" cy="914400"/>
          </a:xfrm>
          <a:prstGeom prst="rect">
            <a:avLst/>
          </a:prstGeom>
          <a:solidFill>
            <a:srgbClr val="162C4A"/>
          </a:solidFill>
          <a:ln w="889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6729984" y="1325880"/>
            <a:ext cx="2103120" cy="54864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821424" y="1417320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IND 신청 준비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(GLP 독성·CMC 완성)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729984" y="2377440"/>
            <a:ext cx="2103120" cy="914400"/>
          </a:xfrm>
          <a:prstGeom prst="rect">
            <a:avLst/>
          </a:prstGeom>
          <a:solidFill>
            <a:srgbClr val="162C4A"/>
          </a:solidFill>
          <a:ln w="889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6729984" y="2377440"/>
            <a:ext cx="2103120" cy="54864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6821424" y="2468880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적응증 선정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(ALS / PHGDH 결핍 우선)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729984" y="3429000"/>
            <a:ext cx="2103120" cy="914400"/>
          </a:xfrm>
          <a:prstGeom prst="rect">
            <a:avLst/>
          </a:prstGeom>
          <a:solidFill>
            <a:srgbClr val="162C4A"/>
          </a:solidFill>
          <a:ln w="889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6729984" y="3429000"/>
            <a:ext cx="2103120" cy="54864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6821424" y="3520440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파트너십 탐색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</a:rPr>
              <a:t>(기술이전·공동 개발)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01168" y="4617720"/>
            <a:ext cx="8741664" cy="411480"/>
          </a:xfrm>
          <a:prstGeom prst="rect">
            <a:avLst/>
          </a:prstGeom>
          <a:solidFill>
            <a:srgbClr val="0A1E3A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320040" y="46177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CDAD"/>
                </a:solidFill>
              </a:rPr>
              <a:t>🏁  최종 목표: 글로벌 PCT 특허 포트폴리오 구축 + 신경 질환 파이프라인 확장 → IND Filing → Phase 1 임상 진입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36008"/>
            <a:ext cx="9144000" cy="507492"/>
          </a:xfrm>
          <a:prstGeom prst="rect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결론 및 제언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06240" cy="1261872"/>
          </a:xfrm>
          <a:prstGeom prst="rect">
            <a:avLst/>
          </a:prstGeom>
          <a:solidFill>
            <a:srgbClr val="0D20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206240" cy="4572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411480" cy="411480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1325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2A2"/>
                </a:solidFill>
              </a:rPr>
              <a:t>구조적 신규성 확보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709928"/>
            <a:ext cx="400507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0BCD0"/>
                </a:solidFill>
              </a:rPr>
              <a:t>L-세린-글라이세롤포스페이트 에스터는 현재 문헌 및 특허 데이터베이스에서 CNS 전달 목적으로의 적용 선례가 없어 조성물 특허 등록 가능성 높음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4206240" cy="1261872"/>
          </a:xfrm>
          <a:prstGeom prst="rect">
            <a:avLst/>
          </a:prstGeom>
          <a:solidFill>
            <a:srgbClr val="0D20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206240" cy="45720"/>
          </a:xfrm>
          <a:prstGeom prst="rect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00600" y="1325880"/>
            <a:ext cx="411480" cy="411480"/>
          </a:xfrm>
          <a:prstGeom prst="ellipse">
            <a:avLst/>
          </a:prstGeom>
          <a:solidFill>
            <a:srgbClr val="0ACDAD"/>
          </a:solidFill>
          <a:ln w="12700">
            <a:solidFill>
              <a:srgbClr val="0ACD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006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76088" y="1325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CDAD"/>
                </a:solidFill>
              </a:rPr>
              <a:t>과학적 진보성 명확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709928"/>
            <a:ext cx="400507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0BCD0"/>
                </a:solidFill>
              </a:rPr>
              <a:t>Alpha-GPC의 BBB 투과 메커니즘을 L-세린에 적용하는 비자명적 개념 + 이중 활성 물질(세린+글라이세롤인산) 유리의 예상치 못한 시너지 효과로 특허 진보성 충족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4206240" cy="1261872"/>
          </a:xfrm>
          <a:prstGeom prst="rect">
            <a:avLst/>
          </a:prstGeom>
          <a:solidFill>
            <a:srgbClr val="0D20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74320" y="2651760"/>
            <a:ext cx="42062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6576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" y="27432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시장 차별성 명확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127248"/>
            <a:ext cx="400507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0BCD0"/>
                </a:solidFill>
              </a:rPr>
              <a:t>Alpha-GPC(콜린 전달), PS(복잡한 인지질), L-세린 단독(낮은 BBB) 대비 — 소분자 경구 투여·고효율 뇌 세린 공급·인지질 막 강화의 3가지 속성을 동시에 충족하는 유일한 후보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2651760"/>
            <a:ext cx="4206240" cy="1261872"/>
          </a:xfrm>
          <a:prstGeom prst="rect">
            <a:avLst/>
          </a:prstGeom>
          <a:solidFill>
            <a:srgbClr val="0D20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709160" y="2651760"/>
            <a:ext cx="4206240" cy="45720"/>
          </a:xfrm>
          <a:prstGeom prst="rect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800600" y="2743200"/>
            <a:ext cx="411480" cy="411480"/>
          </a:xfrm>
          <a:prstGeom prst="ellipse">
            <a:avLst/>
          </a:prstGeom>
          <a:solidFill>
            <a:srgbClr val="F4812A"/>
          </a:solidFill>
          <a:ln w="12700">
            <a:solidFill>
              <a:srgbClr val="F481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80060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76088" y="27432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812A"/>
                </a:solidFill>
              </a:rPr>
              <a:t>즉각적 Next Step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3127248"/>
            <a:ext cx="400507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0BCD0"/>
                </a:solidFill>
              </a:rPr>
              <a:t>① AST-001-GP 합성 착수 → ② PAMPA BBB in vitro 투과 실험 → ③ 선행기술 조사(Freedom-to-Operate) → ④ PCT 특허 출원 준비 (12개월 내 완료 목표)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LS-001-GP는 검증된 Alpha-GPC 메커니즘 + 세린 신경생물학의 융합으로 강력한 특허 포트폴리오와 차별화된 CNS 파이프라인을 구축할 수 있는 </a:t>
            </a:r>
            <a:r>
              <a:rPr lang="en-US" sz="950" b="1" dirty="0" err="1">
                <a:solidFill>
                  <a:srgbClr val="FFFFFF"/>
                </a:solidFill>
              </a:rPr>
              <a:t>최적의</a:t>
            </a:r>
            <a:r>
              <a:rPr lang="en-US" sz="950" b="1" dirty="0">
                <a:solidFill>
                  <a:srgbClr val="FFFFFF"/>
                </a:solidFill>
              </a:rPr>
              <a:t> </a:t>
            </a:r>
            <a:r>
              <a:rPr lang="en-US" sz="950" b="1" dirty="0" err="1">
                <a:solidFill>
                  <a:srgbClr val="FFFFFF"/>
                </a:solidFill>
              </a:rPr>
              <a:t>전략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E4F6B-C666-C035-0C42-F3A8C5C6D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172212-E1CA-8D39-8BEB-9D3748D7FD9E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B8B794B-66E6-6A76-3071-4CA5D77836AC}"/>
              </a:ext>
            </a:extLst>
          </p:cNvPr>
          <p:cNvSpPr/>
          <p:nvPr/>
        </p:nvSpPr>
        <p:spPr>
          <a:xfrm>
            <a:off x="0" y="109728"/>
            <a:ext cx="64008" cy="503834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ADC0D6-9365-4E57-635C-1E88502DD1DB}"/>
              </a:ext>
            </a:extLst>
          </p:cNvPr>
          <p:cNvSpPr/>
          <p:nvPr/>
        </p:nvSpPr>
        <p:spPr>
          <a:xfrm>
            <a:off x="201168" y="164592"/>
            <a:ext cx="8741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</a:rPr>
              <a:t>[</a:t>
            </a:r>
            <a:r>
              <a:rPr lang="ko-KR" altLang="en-US" b="1" dirty="0">
                <a:solidFill>
                  <a:srgbClr val="0B2545"/>
                </a:solidFill>
              </a:rPr>
              <a:t>참고</a:t>
            </a:r>
            <a:r>
              <a:rPr lang="en-US" altLang="ko-KR" sz="2200" b="1" dirty="0">
                <a:solidFill>
                  <a:srgbClr val="0B2545"/>
                </a:solidFill>
              </a:rPr>
              <a:t>] </a:t>
            </a:r>
            <a:r>
              <a:rPr lang="en-US" sz="2200" b="1" dirty="0">
                <a:solidFill>
                  <a:srgbClr val="0B2545"/>
                </a:solidFill>
              </a:rPr>
              <a:t>BBB</a:t>
            </a:r>
            <a:r>
              <a:rPr lang="ko-KR" altLang="en-US" sz="2200" b="1" dirty="0">
                <a:solidFill>
                  <a:srgbClr val="0B2545"/>
                </a:solidFill>
              </a:rPr>
              <a:t> </a:t>
            </a:r>
            <a:r>
              <a:rPr lang="en-US" altLang="ko-KR" sz="2200" b="1" dirty="0">
                <a:solidFill>
                  <a:srgbClr val="0B2545"/>
                </a:solidFill>
              </a:rPr>
              <a:t>Simulation</a:t>
            </a:r>
            <a:endParaRPr lang="en-US" sz="2200" dirty="0"/>
          </a:p>
        </p:txBody>
      </p:sp>
      <p:pic>
        <p:nvPicPr>
          <p:cNvPr id="37" name="Google Shape;497;g3dd29b0135a_0_0">
            <a:extLst>
              <a:ext uri="{FF2B5EF4-FFF2-40B4-BE49-F238E27FC236}">
                <a16:creationId xmlns:a16="http://schemas.microsoft.com/office/drawing/2014/main" id="{C13F74D4-58A2-A381-1D06-FF46AD5D998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t="15383" b="29521"/>
          <a:stretch>
            <a:fillRect/>
          </a:stretch>
        </p:blipFill>
        <p:spPr>
          <a:xfrm>
            <a:off x="1174352" y="676656"/>
            <a:ext cx="6733902" cy="45262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1701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04C12-90FD-5641-27AA-6BAC01151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4A3E68-70E3-F7A6-3B48-D4C0F8C2E468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AD00720-CBAA-9961-A0E0-107B3391B670}"/>
              </a:ext>
            </a:extLst>
          </p:cNvPr>
          <p:cNvSpPr/>
          <p:nvPr/>
        </p:nvSpPr>
        <p:spPr>
          <a:xfrm>
            <a:off x="0" y="109728"/>
            <a:ext cx="64008" cy="503834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9BE7C8-BF78-B85C-C030-4EAB88CD07B8}"/>
              </a:ext>
            </a:extLst>
          </p:cNvPr>
          <p:cNvSpPr/>
          <p:nvPr/>
        </p:nvSpPr>
        <p:spPr>
          <a:xfrm>
            <a:off x="201168" y="164592"/>
            <a:ext cx="8741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</a:rPr>
              <a:t>[</a:t>
            </a:r>
            <a:r>
              <a:rPr lang="ko-KR" altLang="en-US" b="1" dirty="0">
                <a:solidFill>
                  <a:srgbClr val="0B2545"/>
                </a:solidFill>
              </a:rPr>
              <a:t>참고</a:t>
            </a:r>
            <a:r>
              <a:rPr lang="en-US" altLang="ko-KR" sz="2200" b="1" dirty="0">
                <a:solidFill>
                  <a:srgbClr val="0B2545"/>
                </a:solidFill>
              </a:rPr>
              <a:t>] </a:t>
            </a:r>
            <a:r>
              <a:rPr lang="en-US" sz="2200" b="1" dirty="0">
                <a:solidFill>
                  <a:srgbClr val="0B2545"/>
                </a:solidFill>
              </a:rPr>
              <a:t>BBB</a:t>
            </a:r>
            <a:r>
              <a:rPr lang="ko-KR" altLang="en-US" sz="2200" b="1" dirty="0">
                <a:solidFill>
                  <a:srgbClr val="0B2545"/>
                </a:solidFill>
              </a:rPr>
              <a:t> </a:t>
            </a:r>
            <a:r>
              <a:rPr lang="en-US" altLang="ko-KR" sz="2200" b="1" dirty="0">
                <a:solidFill>
                  <a:srgbClr val="0B2545"/>
                </a:solidFill>
              </a:rPr>
              <a:t>Simulation</a:t>
            </a:r>
            <a:endParaRPr lang="en-US" sz="2200" dirty="0"/>
          </a:p>
        </p:txBody>
      </p:sp>
      <p:pic>
        <p:nvPicPr>
          <p:cNvPr id="38" name="Google Shape;497;g3dd29b0135a_0_0">
            <a:extLst>
              <a:ext uri="{FF2B5EF4-FFF2-40B4-BE49-F238E27FC236}">
                <a16:creationId xmlns:a16="http://schemas.microsoft.com/office/drawing/2014/main" id="{E78CC7D8-D64E-FFE0-6247-0BACB7F2E83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2595" t="74333" r="6415" b="1"/>
          <a:stretch>
            <a:fillRect/>
          </a:stretch>
        </p:blipFill>
        <p:spPr>
          <a:xfrm>
            <a:off x="201167" y="809896"/>
            <a:ext cx="8681575" cy="41690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4912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1616</Words>
  <Application>Microsoft Office PowerPoint</Application>
  <PresentationFormat>화면 슬라이드 쇼(16:9)</PresentationFormat>
  <Paragraphs>286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AST-001 Glycerophosphate Conjugate Strategy</dc:title>
  <dc:subject>PptxGenJS Presentation</dc:subject>
  <dc:creator>PptxGenJS</dc:creator>
  <cp:lastModifiedBy>황선관(SUNGWAN HWANG)/신약연구부문/SKBP</cp:lastModifiedBy>
  <cp:revision>6</cp:revision>
  <dcterms:created xsi:type="dcterms:W3CDTF">2026-04-03T06:36:13Z</dcterms:created>
  <dcterms:modified xsi:type="dcterms:W3CDTF">2026-04-03T11:34:13Z</dcterms:modified>
</cp:coreProperties>
</file>