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66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457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조사는 AI에게,</a:t>
            </a:r>
            <a:endParaRPr lang="en-US" sz="3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전략적 판단은 실무자에게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3685032" cy="27432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142232" y="3520440"/>
            <a:ext cx="2258568" cy="27432"/>
          </a:xfrm>
          <a:prstGeom prst="rect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1,000개 Preclinical Pipeline Evaluation의 표준화·자동화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1005840"/>
            <a:ext cx="0" cy="466344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269480" y="1325880"/>
            <a:ext cx="566928" cy="566928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1307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10728" y="1325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52944" y="1892808"/>
            <a:ext cx="0" cy="914400"/>
          </a:xfrm>
          <a:prstGeom prst="line">
            <a:avLst/>
          </a:prstGeom>
          <a:noFill/>
          <a:ln w="19050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269480" y="3063240"/>
            <a:ext cx="566928" cy="566928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269480" y="3044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10728" y="3063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52944" y="3630168"/>
            <a:ext cx="0" cy="914400"/>
          </a:xfrm>
          <a:prstGeom prst="line">
            <a:avLst/>
          </a:prstGeom>
          <a:noFill/>
          <a:ln w="19050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44284" y="4846320"/>
            <a:ext cx="1417320" cy="1417320"/>
          </a:xfrm>
          <a:prstGeom prst="ellipse">
            <a:avLst/>
          </a:prstGeom>
          <a:solidFill>
            <a:srgbClr val="E9F0FB"/>
          </a:solidFill>
          <a:ln w="19050">
            <a:solidFill>
              <a:srgbClr val="1E64C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44284" y="48463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1,000개 Pipeline, 모두 사람이 하나씩 조사하고 있었습니다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전문가의 판단보다, LLM이 대신할 수 있는 조사와 정리에 더 많은 시간이 쓰이고 있었음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449928" y="18105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Longlist Evaluation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3855568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878928" y="1956816"/>
            <a:ext cx="3855568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70052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70052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3132" y="23225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037180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37180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0260" y="23225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04308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204308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정리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87388" y="23225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71436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71436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54516" y="23225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38564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538564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재검색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37180" y="3035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홈페이지·논문·학회자료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29584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31520" y="3785616"/>
            <a:ext cx="384048" cy="384048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3152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3730752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Asset이 많아질수록 조사 품질의 편차가 커짐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4306824"/>
            <a:ext cx="486140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31520" y="43982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담당자별 조사 범위와 깊이가 달라질 수 있음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Pipeline을 충분히 검토하기 어려움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24448" y="3529584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598768" y="3785616"/>
            <a:ext cx="384048" cy="384048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59876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47408" y="3730752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시간이 자동화 가능한 업무에 소모됨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98768" y="4306824"/>
            <a:ext cx="486140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598768" y="43982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탐색·추출·구조화는 LLM으로 자동화 가능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조사와 Excel 정리로 야근이 빈번하게 발생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5266944"/>
            <a:ext cx="11277295" cy="594360"/>
          </a:xfrm>
          <a:prstGeom prst="roundRect">
            <a:avLst>
              <a:gd name="adj" fmla="val 9231"/>
            </a:avLst>
          </a:prstGeom>
          <a:solidFill>
            <a:srgbClr val="1B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57200" y="5266944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문제  |  느린 조사 · 평가 편차 · 충분한 심층검토의 어려움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Asset을 먼저 선별하고, 필요한 Asset만 심층조사합니다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Longlist Evaluation을 Fast Triage → Full Scout의 2단계 Workflow로 자동화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8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F2F5F9"/>
          </a:solidFill>
          <a:ln w="1587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8864" y="2414016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LONGLIST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74624" y="3145536"/>
            <a:ext cx="129844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8864" y="32369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Assets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38832" y="2093976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94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959456" y="2258568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959456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6656" y="225856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TRIAGE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77744" y="2752344"/>
            <a:ext cx="166420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977744" y="287121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20개 일괄 평가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32024" y="332841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REJECT · N/A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4832" y="2093976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80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EFF6E4"/>
          </a:solidFill>
          <a:ln w="15875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839816" y="2414016"/>
            <a:ext cx="512064" cy="512064"/>
          </a:xfrm>
          <a:prstGeom prst="ellipse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83981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5080864" y="3054096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80864" y="339242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심층검토 대상 선별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10832" y="2093976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66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531456" y="2258568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531456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88656" y="225856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549744" y="2752344"/>
            <a:ext cx="166420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549744" y="287121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심층조사 · Scoring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8304" y="332841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Evidence · Rationale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396832" y="2093976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652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87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854032" y="2276856"/>
            <a:ext cx="310896" cy="310896"/>
          </a:xfrm>
          <a:prstGeom prst="ellipse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854032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0274656" y="2249424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854032" y="2807208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854032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10274656" y="27797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854032" y="3337560"/>
            <a:ext cx="310896" cy="310896"/>
          </a:xfrm>
          <a:prstGeom prst="ellipse">
            <a:avLst/>
          </a:prstGeom>
          <a:solidFill>
            <a:srgbClr val="E148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854032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10274656" y="331012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1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57200" y="4151376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57200" y="4151376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148840" y="4151376"/>
            <a:ext cx="7406640" cy="123444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2331720" y="4768596"/>
            <a:ext cx="704088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2377440" y="4151376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TRIAGE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297680" y="4151376"/>
            <a:ext cx="2011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Reject / N/A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55080" y="4151376"/>
            <a:ext cx="30175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심층조사 대상 선별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377440" y="4768596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297680" y="4768596"/>
            <a:ext cx="2011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Review / Fail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55080" y="4768596"/>
            <a:ext cx="30175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Score Threshold에 따라 분류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555480" y="4151376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966960" y="4151376"/>
            <a:ext cx="1767535" cy="1234440"/>
          </a:xfrm>
          <a:prstGeom prst="roundRect">
            <a:avLst>
              <a:gd name="adj" fmla="val 4444"/>
            </a:avLst>
          </a:prstGeom>
          <a:solidFill>
            <a:srgbClr val="1B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9966960" y="4151376"/>
            <a:ext cx="1767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실무진이 설정한 기준으로 빠짐없이 조사하고 Scoring합니다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임의로 판단하는 것이 아니라, 동일한 Rubric을 모든 Asset에 반복 적용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71650" y="1810512"/>
            <a:ext cx="2766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Scoring Rubric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56816"/>
            <a:ext cx="99441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74870" y="1956816"/>
            <a:ext cx="99441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322576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MoA Validity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2322576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429000" y="2551176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2900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04488" y="2322576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차별성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32918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Evidence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3291840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429000" y="3520440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42900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04488" y="32918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Landscape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61104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40080" y="4489704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008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4261104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개발 리스크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46120" y="4261104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429000" y="4489704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04488" y="4261104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Marketability 추정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230368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40080" y="5458968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4008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15568" y="52303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Maturity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46120" y="5230368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429000" y="5458968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42900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04488" y="52303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SKBP Strategic Fit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1773936"/>
            <a:ext cx="5516575" cy="4343400"/>
          </a:xfrm>
          <a:prstGeom prst="roundRect">
            <a:avLst>
              <a:gd name="adj" fmla="val 1684"/>
            </a:avLst>
          </a:prstGeom>
          <a:solidFill>
            <a:srgbClr val="1B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583680" y="2029968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더 일관적인가?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83680" y="2487168"/>
            <a:ext cx="4785055" cy="0"/>
          </a:xfrm>
          <a:prstGeom prst="line">
            <a:avLst/>
          </a:prstGeom>
          <a:noFill/>
          <a:ln w="12700">
            <a:solidFill>
              <a:srgbClr val="3E4E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583680" y="267004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5836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86600" y="2624328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Checklist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086600" y="2907792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Asset에 같은 평가항목 적용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583680" y="33832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5836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86600" y="3337560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정보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누락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최소화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086600" y="3621024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시간·피로와 무관하게 항목별 조사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583680" y="409651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658368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086600" y="4050792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기반 Scoring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086600" y="4334256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Score와 Evidence를 함께 기록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583680" y="48097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58368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086600" y="4764024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간 비교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086600" y="5047488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형식으로 결과를 구조화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492240" y="5568696"/>
            <a:ext cx="4967935" cy="384048"/>
          </a:xfrm>
          <a:prstGeom prst="roundRect">
            <a:avLst>
              <a:gd name="adj" fmla="val 50000"/>
            </a:avLst>
          </a:prstGeom>
          <a:solidFill>
            <a:srgbClr val="2A3B7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492240" y="556869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 누락 ↓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148218" y="556869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일관성 ↑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148218" y="5641848"/>
            <a:ext cx="0" cy="237744"/>
          </a:xfrm>
          <a:prstGeom prst="line">
            <a:avLst/>
          </a:prstGeom>
          <a:noFill/>
          <a:ln w="9525">
            <a:solidFill>
              <a:srgbClr val="4455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9804197" y="556869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비교 가능성 ↑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9804197" y="5641848"/>
            <a:ext cx="0" cy="237744"/>
          </a:xfrm>
          <a:prstGeom prst="line">
            <a:avLst/>
          </a:prstGeom>
          <a:noFill/>
          <a:ln w="9525">
            <a:solidFill>
              <a:srgbClr val="4455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 결과를 한눈에 보고, 질문하고, 전체 Asset과 비교합니다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데이터가 쌓일수록 Knowledge Wiki가 확장되고, 더 많은 검색·비교·분석이 가능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87088" y="17647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52648" y="1911096"/>
            <a:ext cx="10972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41768" y="1911096"/>
            <a:ext cx="10972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23160" y="2112264"/>
            <a:ext cx="7162495" cy="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23160" y="2112264"/>
            <a:ext cx="0" cy="27432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095848" y="2112264"/>
            <a:ext cx="0" cy="27432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85655" y="2112264"/>
            <a:ext cx="0" cy="27432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4160520" cy="2834640"/>
          </a:xfrm>
          <a:prstGeom prst="roundRect">
            <a:avLst>
              <a:gd name="adj" fmla="val 2581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77240" y="2798064"/>
            <a:ext cx="457200" cy="457200"/>
          </a:xfrm>
          <a:prstGeom prst="ellipse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27980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Asset Pipeline Chat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3438144"/>
            <a:ext cx="361188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5478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Full Scout Report에 즉시 질문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3986784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E9F0FB"/>
          </a:solidFill>
          <a:ln w="952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/>
          <p:nvPr/>
        </p:nvSpPr>
        <p:spPr>
          <a:xfrm>
            <a:off x="914400" y="3986784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Asset의 가장 큰 개발 리스크와 </a:t>
            </a:r>
            <a:r>
              <a:rPr lang="en-US" sz="1250" b="1" i="1" dirty="0" err="1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추가로</a:t>
            </a:r>
            <a:r>
              <a:rPr lang="en-US" sz="125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25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b="1" i="1" dirty="0" err="1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확인해야</a:t>
            </a:r>
            <a:r>
              <a:rPr lang="en-US" sz="125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할 data</a:t>
            </a:r>
            <a:r>
              <a:rPr lang="ko-KR" altLang="en-US" sz="125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</a:t>
            </a:r>
            <a:r>
              <a:rPr lang="en-US" sz="125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3118104"/>
            <a:ext cx="2179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73563" y="4169664"/>
            <a:ext cx="1307409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4306824"/>
            <a:ext cx="2179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Target ·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· Company ·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 연결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36815" y="2523744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756855" y="2798064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56855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51215" y="27980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Asset Knowledge Wiki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11135" y="3438144"/>
            <a:ext cx="374904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711135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축적된 전체 Pipeline을 검색·선별·비교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11135" y="3986784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E9F0FB"/>
          </a:solidFill>
          <a:ln w="952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711135" y="4032504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“PD Asset 중 SKBP가 우선 검토할 상위 2개를 선정하고, </a:t>
            </a:r>
            <a:r>
              <a:rPr lang="en-US" sz="1200" b="1" i="1" dirty="0" err="1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Marketability·개발</a:t>
            </a:r>
            <a:r>
              <a:rPr lang="en-US" sz="120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리스크를 </a:t>
            </a:r>
            <a:r>
              <a:rPr lang="en-US" sz="1200" b="1" i="1" dirty="0" err="1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기준으로</a:t>
            </a:r>
            <a:r>
              <a:rPr lang="en-US" sz="120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 err="1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비교해줘</a:t>
            </a:r>
            <a:r>
              <a:rPr lang="en-US" sz="120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632704"/>
            <a:ext cx="11277295" cy="502920"/>
          </a:xfrm>
          <a:prstGeom prst="roundRect">
            <a:avLst>
              <a:gd name="adj" fmla="val 50909"/>
            </a:avLst>
          </a:prstGeom>
          <a:solidFill>
            <a:srgbClr val="EFF6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56327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F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Report Q&amp;A   +   전체 Asset 검색   +   Asset vs. Asset 비교   +   축적 정보 기반 추가 분석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업무는 AI에게, </a:t>
            </a:r>
            <a:r>
              <a:rPr lang="en-US" sz="2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실무자는</a:t>
            </a: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의사결정에</a:t>
            </a: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집중합니다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1,000개 이상의 Longlist Evaluation을 표준화·자동화하여, 조사보다 판단에 시간을 씁니다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783080" y="194767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783080" y="1947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96896"/>
            <a:ext cx="384048" cy="384048"/>
          </a:xfrm>
          <a:prstGeom prst="roundRect">
            <a:avLst>
              <a:gd name="adj" fmla="val 7143"/>
            </a:avLst>
          </a:prstGeom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8330" y="2712110"/>
            <a:ext cx="230429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8330" y="2788920"/>
            <a:ext cx="230429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8330" y="2865730"/>
            <a:ext cx="230429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15568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17904" y="2596896"/>
            <a:ext cx="384048" cy="384048"/>
          </a:xfrm>
          <a:prstGeom prst="ellipse">
            <a:avLst/>
          </a:prstGeom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517904" y="2788920"/>
            <a:ext cx="384048" cy="0"/>
          </a:xfrm>
          <a:prstGeom prst="line">
            <a:avLst/>
          </a:prstGeom>
          <a:noFill/>
          <a:ln w="952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625437" y="2596896"/>
            <a:ext cx="168981" cy="384048"/>
          </a:xfrm>
          <a:prstGeom prst="ellipse">
            <a:avLst/>
          </a:prstGeom>
          <a:ln w="952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901952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04288" y="2596896"/>
            <a:ext cx="384048" cy="384048"/>
          </a:xfrm>
          <a:prstGeom prst="roundRect">
            <a:avLst>
              <a:gd name="adj" fmla="val 7143"/>
            </a:avLst>
          </a:prstGeom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30428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2688336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90672" y="2635301"/>
            <a:ext cx="384048" cy="345643"/>
          </a:xfrm>
          <a:prstGeom prst="roundRect">
            <a:avLst>
              <a:gd name="adj" fmla="val 7937"/>
            </a:avLst>
          </a:prstGeom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205886" y="2596896"/>
            <a:ext cx="153619" cy="61448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 w="1397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175163" y="2735153"/>
            <a:ext cx="215067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175163" y="2811963"/>
            <a:ext cx="215067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175163" y="2888772"/>
            <a:ext cx="215067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474720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77056" y="2596896"/>
            <a:ext cx="276515" cy="276515"/>
          </a:xfrm>
          <a:prstGeom prst="ellipse">
            <a:avLst/>
          </a:prstGeom>
          <a:ln w="1778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065086" y="2784926"/>
            <a:ext cx="115214" cy="115214"/>
          </a:xfrm>
          <a:prstGeom prst="line">
            <a:avLst/>
          </a:prstGeom>
          <a:noFill/>
          <a:ln w="2032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List → 웹 검색 → Excel 정리 → 평가 → 재검색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1520" y="3483864"/>
            <a:ext cx="365760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31520" y="3621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작업에 많은 시간 소요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담당자마다 조사 깊이·범위가 달라짐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2756916"/>
            <a:ext cx="1234440" cy="822960"/>
          </a:xfrm>
          <a:prstGeom prst="rightArrow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480560" y="38496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2139696"/>
            <a:ext cx="556229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221828" y="194767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3F7D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221828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28232" y="2590800"/>
            <a:ext cx="347472" cy="347472"/>
          </a:xfrm>
          <a:prstGeom prst="funnel">
            <a:avLst/>
          </a:prstGeom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995160" y="2535936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Triage로 관심 Pipeline 선별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46520" y="3023616"/>
            <a:ext cx="501365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428232" y="3108960"/>
            <a:ext cx="250180" cy="250180"/>
          </a:xfrm>
          <a:prstGeom prst="ellipse">
            <a:avLst/>
          </a:prstGeom>
          <a:ln w="1778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598354" y="3279082"/>
            <a:ext cx="104242" cy="104242"/>
          </a:xfrm>
          <a:prstGeom prst="line">
            <a:avLst/>
          </a:prstGeom>
          <a:noFill/>
          <a:ln w="2032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995160" y="3054096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Scout로 동일 기준의 심층 조사 · Scoring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46520" y="3541776"/>
            <a:ext cx="501365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428232" y="3608832"/>
            <a:ext cx="326441" cy="326441"/>
          </a:xfrm>
          <a:prstGeom prst="roundRect">
            <a:avLst>
              <a:gd name="adj" fmla="val 8403"/>
            </a:avLst>
          </a:prstGeom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493520" y="3706764"/>
            <a:ext cx="195864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493520" y="3772052"/>
            <a:ext cx="195864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493520" y="3837341"/>
            <a:ext cx="195864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677095" y="3800088"/>
            <a:ext cx="168981" cy="168981"/>
          </a:xfrm>
          <a:prstGeom prst="ellipse">
            <a:avLst/>
          </a:prstGeom>
          <a:solidFill>
            <a:srgbClr val="3F7D2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677095" y="3781800"/>
            <a:ext cx="168981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70" dirty="0"/>
          </a:p>
        </p:txBody>
      </p:sp>
      <p:sp>
        <p:nvSpPr>
          <p:cNvPr id="52" name="Text 50"/>
          <p:cNvSpPr/>
          <p:nvPr/>
        </p:nvSpPr>
        <p:spPr>
          <a:xfrm>
            <a:off x="6995160" y="3572256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Report를 검토하고 핵심 의사결정에 집중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57200" y="437997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645920" y="4764024"/>
            <a:ext cx="8899855" cy="0"/>
          </a:xfrm>
          <a:prstGeom prst="line">
            <a:avLst/>
          </a:prstGeom>
          <a:noFill/>
          <a:ln w="1905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545775" y="4764024"/>
            <a:ext cx="1051560" cy="0"/>
          </a:xfrm>
          <a:prstGeom prst="line">
            <a:avLst/>
          </a:prstGeom>
          <a:noFill/>
          <a:ln w="19050">
            <a:solidFill>
              <a:srgbClr val="7CB34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417320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41732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417320" y="4535424"/>
            <a:ext cx="457200" cy="457200"/>
          </a:xfrm>
          <a:prstGeom prst="ellipse">
            <a:avLst/>
          </a:prstGeom>
          <a:ln w="15875">
            <a:solidFill>
              <a:srgbClr val="223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57200" y="5038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Cross-check로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" y="5294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정확성 검증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383938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4383938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383938" y="4535424"/>
            <a:ext cx="457200" cy="457200"/>
          </a:xfrm>
          <a:prstGeom prst="ellipse">
            <a:avLst/>
          </a:prstGeom>
          <a:ln w="15875">
            <a:solidFill>
              <a:srgbClr val="223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3423818" y="5038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모드별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3423818" y="5294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일관성 점검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350557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7350557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350557" y="4535424"/>
            <a:ext cx="457200" cy="457200"/>
          </a:xfrm>
          <a:prstGeom prst="ellipse">
            <a:avLst/>
          </a:prstGeom>
          <a:ln w="15875">
            <a:solidFill>
              <a:srgbClr val="223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6390437" y="5038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Cosmetics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6390437" y="5294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단순화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10317175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0317175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10317175" y="4535424"/>
            <a:ext cx="457200" cy="457200"/>
          </a:xfrm>
          <a:prstGeom prst="ellipse">
            <a:avLst/>
          </a:prstGeom>
          <a:ln w="15875">
            <a:solidFill>
              <a:srgbClr val="223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9357055" y="5038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Innovation Team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9357055" y="5294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정보 축적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457200" y="5568696"/>
            <a:ext cx="11277295" cy="502920"/>
          </a:xfrm>
          <a:prstGeom prst="roundRect">
            <a:avLst>
              <a:gd name="adj" fmla="val 50909"/>
            </a:avLst>
          </a:prstGeom>
          <a:solidFill>
            <a:srgbClr val="EFF6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68680" y="5673852"/>
            <a:ext cx="292608" cy="292608"/>
          </a:xfrm>
          <a:prstGeom prst="ellipse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868680" y="56555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79" name="Text 77"/>
          <p:cNvSpPr/>
          <p:nvPr/>
        </p:nvSpPr>
        <p:spPr>
          <a:xfrm>
            <a:off x="1325880" y="5568696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가능한 조사 업무는 줄이고, 실무자의 전략적 판단은 더 깊게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향후계획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검증-개선-축적의 반복으로 평가 품질을 높입니다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49123" y="122529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744657" y="18288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693347" y="11430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596067" y="98298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807647" y="80010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201857" y="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762945" y="201168"/>
            <a:ext cx="457200" cy="0"/>
          </a:xfrm>
          <a:prstGeom prst="line">
            <a:avLst/>
          </a:prstGeom>
          <a:noFill/>
          <a:ln w="6350">
            <a:solidFill>
              <a:srgbClr val="B9C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614355" y="1001268"/>
            <a:ext cx="571500" cy="0"/>
          </a:xfrm>
          <a:prstGeom prst="line">
            <a:avLst/>
          </a:prstGeom>
          <a:noFill/>
          <a:ln w="6350">
            <a:solidFill>
              <a:srgbClr val="B9C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820095" y="384048"/>
            <a:ext cx="708660" cy="708660"/>
          </a:xfrm>
          <a:prstGeom prst="roundRect">
            <a:avLst>
              <a:gd name="adj" fmla="val 7742"/>
            </a:avLst>
          </a:prstGeom>
          <a:solidFill>
            <a:srgbClr val="E9F0FB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591495" y="109728"/>
            <a:ext cx="708660" cy="708660"/>
          </a:xfrm>
          <a:prstGeom prst="roundRect">
            <a:avLst>
              <a:gd name="adj" fmla="val 7742"/>
            </a:avLst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003908" y="1956816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385578" y="2282525"/>
            <a:ext cx="184343" cy="184343"/>
          </a:xfrm>
          <a:prstGeom prst="ellipse">
            <a:avLst/>
          </a:prstGeom>
          <a:ln w="1397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528956" y="2272284"/>
            <a:ext cx="184343" cy="184343"/>
          </a:xfrm>
          <a:prstGeom prst="ellipse">
            <a:avLst/>
          </a:prstGeom>
          <a:ln w="1651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354854" y="2456627"/>
            <a:ext cx="512064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755288" y="2662477"/>
            <a:ext cx="174102" cy="174102"/>
          </a:xfrm>
          <a:prstGeom prst="ellipse">
            <a:avLst/>
          </a:prstGeom>
          <a:solidFill>
            <a:srgbClr val="1E64C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755288" y="2644189"/>
            <a:ext cx="174102" cy="174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81" dirty="0"/>
          </a:p>
        </p:txBody>
      </p:sp>
      <p:sp>
        <p:nvSpPr>
          <p:cNvPr id="22" name="Shape 20"/>
          <p:cNvSpPr/>
          <p:nvPr/>
        </p:nvSpPr>
        <p:spPr>
          <a:xfrm>
            <a:off x="1875892" y="1828800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87589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38348" y="2574036"/>
            <a:ext cx="502920" cy="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683868" y="33284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실무진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Cross-check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00988" y="38496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실무 판단과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평가 결과 비교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1268" y="1956816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102456" y="2323490"/>
            <a:ext cx="512064" cy="460858"/>
          </a:xfrm>
          <a:prstGeom prst="roundRect">
            <a:avLst>
              <a:gd name="adj" fmla="val 5952"/>
            </a:avLst>
          </a:prstGeom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256075" y="2272284"/>
            <a:ext cx="204826" cy="81930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1397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15110" y="2456627"/>
            <a:ext cx="286756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215110" y="2559040"/>
            <a:ext cx="286756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215110" y="2661453"/>
            <a:ext cx="286756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613252" y="1828800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61325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75708" y="2574036"/>
            <a:ext cx="502920" cy="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421228" y="33284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3238348" y="38496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평가항목·점수 기준 및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Pass·Review·Fail Threshold 정교화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78628" y="1956816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839816" y="2272284"/>
            <a:ext cx="435254" cy="307238"/>
          </a:xfrm>
          <a:prstGeom prst="roundRect">
            <a:avLst>
              <a:gd name="adj" fmla="val 8929"/>
            </a:avLst>
          </a:prstGeom>
          <a:ln w="1524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901263" y="2487351"/>
            <a:ext cx="102413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003676" y="2405421"/>
            <a:ext cx="81930" cy="51206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085606" y="2456627"/>
            <a:ext cx="112654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157295" y="2415662"/>
            <a:ext cx="204826" cy="20482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304770" y="2563136"/>
            <a:ext cx="81930" cy="81930"/>
          </a:xfrm>
          <a:prstGeom prst="line">
            <a:avLst/>
          </a:prstGeom>
          <a:noFill/>
          <a:ln w="1651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5350612" y="1828800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35061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713068" y="2574036"/>
            <a:ext cx="502920" cy="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158588" y="33284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결과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일관성 점검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975708" y="38496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실행 모드별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편차와 안정성 검증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15988" y="1956816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7577176" y="2272284"/>
            <a:ext cx="435254" cy="435254"/>
          </a:xfrm>
          <a:prstGeom prst="roundRect">
            <a:avLst>
              <a:gd name="adj" fmla="val 6303"/>
            </a:avLst>
          </a:prstGeom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7664226" y="2402860"/>
            <a:ext cx="261153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7664226" y="2489911"/>
            <a:ext cx="261153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7664226" y="2576962"/>
            <a:ext cx="261153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7894655" y="2528316"/>
            <a:ext cx="174102" cy="0"/>
          </a:xfrm>
          <a:prstGeom prst="line">
            <a:avLst/>
          </a:prstGeom>
          <a:noFill/>
          <a:ln w="2032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8038033" y="2364456"/>
            <a:ext cx="30724" cy="0"/>
          </a:xfrm>
          <a:prstGeom prst="line">
            <a:avLst/>
          </a:prstGeom>
          <a:noFill/>
          <a:ln w="2794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087972" y="1828800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08797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450428" y="2574036"/>
            <a:ext cx="502920" cy="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6895948" y="33284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형식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단순화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6713068" y="38496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결론과 판단 근거 중심으로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가독성 개선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953348" y="1956816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314536" y="2272284"/>
            <a:ext cx="256032" cy="1126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314536" y="2354214"/>
            <a:ext cx="256032" cy="1126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9314536" y="2436144"/>
            <a:ext cx="256032" cy="1126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314536" y="2328611"/>
            <a:ext cx="0" cy="16386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570568" y="2328611"/>
            <a:ext cx="0" cy="16386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642257" y="2364456"/>
            <a:ext cx="51206" cy="256032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713946" y="2466868"/>
            <a:ext cx="51206" cy="153619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785634" y="2272284"/>
            <a:ext cx="51206" cy="348204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8825332" y="1828800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882533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633308" y="33284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 Dashboard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축적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8450428" y="38496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평가 데이터를 지속 축적해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Wiki 확장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570568" y="3191256"/>
            <a:ext cx="0" cy="1417320"/>
          </a:xfrm>
          <a:prstGeom prst="line">
            <a:avLst/>
          </a:prstGeom>
          <a:noFill/>
          <a:ln w="12700">
            <a:solidFill>
              <a:srgbClr val="1E64C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2621128" y="4608576"/>
            <a:ext cx="6949440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2621128" y="3191256"/>
            <a:ext cx="0" cy="1417320"/>
          </a:xfrm>
          <a:prstGeom prst="line">
            <a:avLst/>
          </a:prstGeom>
          <a:noFill/>
          <a:ln w="12700">
            <a:solidFill>
              <a:srgbClr val="1E64C8"/>
            </a:solidFill>
            <a:prstDash val="dash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457200" y="5623560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1B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594360" y="5577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445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400" dirty="0"/>
          </a:p>
        </p:txBody>
      </p:sp>
      <p:sp>
        <p:nvSpPr>
          <p:cNvPr id="80" name="Text 78"/>
          <p:cNvSpPr/>
          <p:nvPr/>
        </p:nvSpPr>
        <p:spPr>
          <a:xfrm>
            <a:off x="11048695" y="5577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445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3400" dirty="0"/>
          </a:p>
        </p:txBody>
      </p:sp>
      <p:sp>
        <p:nvSpPr>
          <p:cNvPr id="81" name="Text 79"/>
          <p:cNvSpPr/>
          <p:nvPr/>
        </p:nvSpPr>
        <p:spPr>
          <a:xfrm>
            <a:off x="1188720" y="562356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실무진 검증과 Rubric 개선을 반복하며 평가 품질을 높이고,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축적된 결과를 OI의 Pipeline Knowledge로 발전시키겠습니다.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실무진 역할의 변화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실무진은 더 전략적인 판단에 집중할 수 있게 됩니다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49123" y="122529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744657" y="18288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693347" y="11430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596067" y="98298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807647" y="80010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201857" y="0"/>
            <a:ext cx="41148" cy="41148"/>
          </a:xfrm>
          <a:prstGeom prst="ellipse">
            <a:avLst/>
          </a:prstGeom>
          <a:solidFill>
            <a:srgbClr val="B9C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762945" y="201168"/>
            <a:ext cx="457200" cy="0"/>
          </a:xfrm>
          <a:prstGeom prst="line">
            <a:avLst/>
          </a:prstGeom>
          <a:noFill/>
          <a:ln w="6350">
            <a:solidFill>
              <a:srgbClr val="B9C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614355" y="1001268"/>
            <a:ext cx="571500" cy="0"/>
          </a:xfrm>
          <a:prstGeom prst="line">
            <a:avLst/>
          </a:prstGeom>
          <a:noFill/>
          <a:ln w="6350">
            <a:solidFill>
              <a:srgbClr val="B9C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820095" y="384048"/>
            <a:ext cx="708660" cy="708660"/>
          </a:xfrm>
          <a:prstGeom prst="roundRect">
            <a:avLst>
              <a:gd name="adj" fmla="val 7742"/>
            </a:avLst>
          </a:prstGeom>
          <a:solidFill>
            <a:srgbClr val="E9F0FB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591495" y="109728"/>
            <a:ext cx="708660" cy="708660"/>
          </a:xfrm>
          <a:prstGeom prst="roundRect">
            <a:avLst>
              <a:gd name="adj" fmla="val 7742"/>
            </a:avLst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591495" y="91440"/>
            <a:ext cx="7086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1819656"/>
            <a:ext cx="512064" cy="512064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66928" y="1929384"/>
            <a:ext cx="210678" cy="210678"/>
          </a:xfrm>
          <a:prstGeom prst="ellipse">
            <a:avLst/>
          </a:prstGeom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0189" y="2072645"/>
            <a:ext cx="87782" cy="87782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34440" y="176479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탐색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154680" y="1837944"/>
            <a:ext cx="0" cy="475488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383280" y="1801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검색, 논문/학회자료 탐색,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정리 등을 AI가 수행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612648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512064" cy="512064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66928" y="2715768"/>
            <a:ext cx="292608" cy="292608"/>
          </a:xfrm>
          <a:prstGeom prst="roundRect">
            <a:avLst>
              <a:gd name="adj" fmla="val 9375"/>
            </a:avLst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5450" y="2803550"/>
            <a:ext cx="17556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5450" y="2862072"/>
            <a:ext cx="17556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5450" y="2920594"/>
            <a:ext cx="17556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234440" y="25511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표준화된 평가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생성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154680" y="2624328"/>
            <a:ext cx="0" cy="475488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383280" y="2587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기반 평가 및 근거 정리를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초안으로 생성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255264"/>
            <a:ext cx="612648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57200" y="3392424"/>
            <a:ext cx="512064" cy="512064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66928" y="3502152"/>
            <a:ext cx="248717" cy="175565"/>
          </a:xfrm>
          <a:prstGeom prst="roundRect">
            <a:avLst>
              <a:gd name="adj" fmla="val 31250"/>
            </a:avLst>
          </a:prstGeom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 flipV="1">
            <a:off x="602041" y="3648456"/>
            <a:ext cx="52669" cy="52669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07893" y="3566526"/>
            <a:ext cx="160934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07893" y="3619195"/>
            <a:ext cx="160934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234440" y="33375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문의 및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확인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3154680" y="3410712"/>
            <a:ext cx="0" cy="475488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383280" y="33741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Agent Chat을 통해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질문 및 상세 정보 확인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041648"/>
            <a:ext cx="612648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57200" y="4178808"/>
            <a:ext cx="512064" cy="512064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66928" y="4376318"/>
            <a:ext cx="64374" cy="117043"/>
          </a:xfrm>
          <a:prstGeom prst="rect">
            <a:avLst/>
          </a:prstGeom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60563" y="4294388"/>
            <a:ext cx="64374" cy="198973"/>
          </a:xfrm>
          <a:prstGeom prst="rect">
            <a:avLst/>
          </a:prstGeom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54197" y="4335353"/>
            <a:ext cx="64374" cy="158008"/>
          </a:xfrm>
          <a:prstGeom prst="rect">
            <a:avLst/>
          </a:prstGeom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234440" y="412394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비교 및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도출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3154680" y="4197096"/>
            <a:ext cx="0" cy="475488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38328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 Asset 간 비교 분석 및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인사이트 도출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4828032"/>
            <a:ext cx="612648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57200" y="4965192"/>
            <a:ext cx="512064" cy="512064"/>
          </a:xfrm>
          <a:prstGeom prst="ellipse">
            <a:avLst/>
          </a:prstGeom>
          <a:solidFill>
            <a:srgbClr val="2235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66928" y="5074920"/>
            <a:ext cx="292608" cy="292608"/>
          </a:xfrm>
          <a:prstGeom prst="ellipse">
            <a:avLst/>
          </a:prstGeom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16671" y="5124663"/>
            <a:ext cx="193121" cy="193121"/>
          </a:xfrm>
          <a:prstGeom prst="ellipse">
            <a:avLst/>
          </a:prstGeom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666415" y="5174407"/>
            <a:ext cx="93635" cy="9363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1234440" y="491032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전략적 판단 및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의사결정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3154680" y="4983480"/>
            <a:ext cx="0" cy="475488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3383280" y="49469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Pass/Review/Fail 최종 판단과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 결정은 실무진이 수행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949440" y="1545336"/>
            <a:ext cx="4785055" cy="4069080"/>
          </a:xfrm>
          <a:prstGeom prst="roundRect">
            <a:avLst>
              <a:gd name="adj" fmla="val 2247"/>
            </a:avLst>
          </a:prstGeom>
          <a:solidFill>
            <a:srgbClr val="E9F0FB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132320" y="15910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400" dirty="0"/>
          </a:p>
        </p:txBody>
      </p:sp>
      <p:sp>
        <p:nvSpPr>
          <p:cNvPr id="59" name="Text 57"/>
          <p:cNvSpPr/>
          <p:nvPr/>
        </p:nvSpPr>
        <p:spPr>
          <a:xfrm>
            <a:off x="10911535" y="506577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7315200" y="2231136"/>
            <a:ext cx="405353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수많은 정보를 빠르게 조사하고 정리해주어,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조사에 쓰는 시간이 크게 줄었습니다.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315200" y="3240024"/>
            <a:ext cx="4053535" cy="0"/>
          </a:xfrm>
          <a:prstGeom prst="line">
            <a:avLst/>
          </a:prstGeom>
          <a:noFill/>
          <a:ln w="9525">
            <a:solidFill>
              <a:srgbClr val="C7D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7315200" y="3313176"/>
            <a:ext cx="405353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일관된 기준으로 평가 초안을 제공해주어,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Asset을 공정하게 비교할 수 있었습니다.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315200" y="4322064"/>
            <a:ext cx="4053535" cy="0"/>
          </a:xfrm>
          <a:prstGeom prst="line">
            <a:avLst/>
          </a:prstGeom>
          <a:noFill/>
          <a:ln w="9525">
            <a:solidFill>
              <a:srgbClr val="C7D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7315200" y="4395216"/>
            <a:ext cx="405353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반복적인 정리와 문의가 줄어들어,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판단과 전략 수립에 더 집중할 수 있습니다.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906</Words>
  <Application>Microsoft Office PowerPoint</Application>
  <PresentationFormat>와이드스크린</PresentationFormat>
  <Paragraphs>253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cheolsang an</cp:lastModifiedBy>
  <cp:revision>2</cp:revision>
  <dcterms:created xsi:type="dcterms:W3CDTF">2026-07-16T06:12:12Z</dcterms:created>
  <dcterms:modified xsi:type="dcterms:W3CDTF">2026-07-18T04:59:50Z</dcterms:modified>
</cp:coreProperties>
</file>