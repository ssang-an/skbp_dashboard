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457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조사는 AI에게,</a:t>
            </a:r>
            <a:endParaRPr lang="en-US" sz="3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전략적 판단은 실무자에게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3685032" cy="27432"/>
          </a:xfrm>
          <a:prstGeom prst="rect">
            <a:avLst/>
          </a:prstGeom>
          <a:solidFill>
            <a:srgbClr val="1E64C8"/>
          </a:solidFill>
          <a:ln/>
        </p:spPr>
      </p:sp>
      <p:sp>
        <p:nvSpPr>
          <p:cNvPr id="6" name="Shape 4"/>
          <p:cNvSpPr/>
          <p:nvPr/>
        </p:nvSpPr>
        <p:spPr>
          <a:xfrm>
            <a:off x="4142232" y="3520440"/>
            <a:ext cx="2258568" cy="27432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03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1,000개 Preclinical Pipeline Evaluation의 표준화·자동화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0840" y="1005840"/>
            <a:ext cx="0" cy="466344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1325880"/>
            <a:ext cx="566928" cy="566928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1307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10728" y="1325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52944" y="1892808"/>
            <a:ext cx="0" cy="914400"/>
          </a:xfrm>
          <a:prstGeom prst="line">
            <a:avLst/>
          </a:prstGeom>
          <a:noFill/>
          <a:ln w="19050">
            <a:solidFill>
              <a:srgbClr val="1E64C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9480" y="3063240"/>
            <a:ext cx="566928" cy="566928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3044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10728" y="30632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SCOUT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52944" y="3630168"/>
            <a:ext cx="0" cy="914400"/>
          </a:xfrm>
          <a:prstGeom prst="line">
            <a:avLst/>
          </a:prstGeom>
          <a:noFill/>
          <a:ln w="19050">
            <a:solidFill>
              <a:srgbClr val="1E64C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44284" y="4846320"/>
            <a:ext cx="1417320" cy="1417320"/>
          </a:xfrm>
          <a:prstGeom prst="ellipse">
            <a:avLst/>
          </a:prstGeom>
          <a:solidFill>
            <a:srgbClr val="E9F0FB"/>
          </a:solidFill>
          <a:ln w="19050">
            <a:solidFill>
              <a:srgbClr val="1E64C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844284" y="484632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1,000개 Pipeline, 모두 사람이 하나씩 조사하고 있었습니다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전문가의 판단보다, LLM이 대신할 수 있는 조사와 정리에 더 많은 시간이 쓰이고 있었음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8" name="Text 6"/>
          <p:cNvSpPr/>
          <p:nvPr/>
        </p:nvSpPr>
        <p:spPr>
          <a:xfrm>
            <a:off x="4449928" y="18105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Longlist Evaluation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3855568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78928" y="1956816"/>
            <a:ext cx="3855568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0052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0052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3132" y="232257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037180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7180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검색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0260" y="232257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04308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4308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정리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87388" y="232257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71436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1436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54516" y="232257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38564" y="2322576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38564" y="2322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재검색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37180" y="3035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홈페이지·논문·학회자료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529584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785616"/>
            <a:ext cx="384048" cy="384048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0160" y="3730752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Asset이 많아질수록 조사 품질의 편차가 커짐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" y="4306824"/>
            <a:ext cx="486140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39826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담당자별 조사 범위와 깊이가 달라질 수 있음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Pipeline을 충분히 검토하기 어려움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24448" y="3529584"/>
            <a:ext cx="5410048" cy="1417320"/>
          </a:xfrm>
          <a:prstGeom prst="roundRect">
            <a:avLst>
              <a:gd name="adj" fmla="val 3871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98768" y="3785616"/>
            <a:ext cx="384048" cy="384048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34" name="Text 32"/>
          <p:cNvSpPr/>
          <p:nvPr/>
        </p:nvSpPr>
        <p:spPr>
          <a:xfrm>
            <a:off x="659876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47408" y="3730752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시간이 자동화 가능한 업무에 소모됨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98768" y="4306824"/>
            <a:ext cx="486140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8768" y="439826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탐색·추출·구조화는 LLM으로 자동화 가능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조사와 Excel 정리로 야근이 빈번하게 발생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5266944"/>
            <a:ext cx="11277295" cy="594360"/>
          </a:xfrm>
          <a:prstGeom prst="roundRect">
            <a:avLst>
              <a:gd name="adj" fmla="val 9231"/>
            </a:avLst>
          </a:prstGeom>
          <a:solidFill>
            <a:srgbClr val="1B2A5C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5266944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문제  |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느린 조사 · 평가 편차 · 충분한 심층검토의 어려움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Asset을 먼저 선별하고, 필요한 Asset만 심층조사합니다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Longlist Evaluation을 Fast Triage → Full Scout의 2단계 Workflow로 자동화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8" name="Shape 6"/>
          <p:cNvSpPr/>
          <p:nvPr/>
        </p:nvSpPr>
        <p:spPr>
          <a:xfrm>
            <a:off x="508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F2F5F9"/>
          </a:solidFill>
          <a:ln w="15875">
            <a:solidFill>
              <a:srgbClr val="D9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864" y="2414016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LONGLIST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74624" y="3145536"/>
            <a:ext cx="129844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864" y="3236976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Assets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38832" y="2093976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94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59456" y="2258568"/>
            <a:ext cx="365760" cy="365760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15" name="Text 13"/>
          <p:cNvSpPr/>
          <p:nvPr/>
        </p:nvSpPr>
        <p:spPr>
          <a:xfrm>
            <a:off x="2959456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6656" y="225856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TRIAGE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77744" y="2752344"/>
            <a:ext cx="166420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7744" y="287121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20개 일괄 평가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32024" y="332841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REJECT · N/A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4832" y="2093976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80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EFF6E4"/>
          </a:solidFill>
          <a:ln w="15875">
            <a:solidFill>
              <a:srgbClr val="7CB3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39816" y="2414016"/>
            <a:ext cx="512064" cy="512064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3" name="Text 21"/>
          <p:cNvSpPr/>
          <p:nvPr/>
        </p:nvSpPr>
        <p:spPr>
          <a:xfrm>
            <a:off x="5839816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5080864" y="3054096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80864" y="339242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심층검토 대상 선별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10832" y="2093976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366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31456" y="2258568"/>
            <a:ext cx="365760" cy="365760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29" name="Text 27"/>
          <p:cNvSpPr/>
          <p:nvPr/>
        </p:nvSpPr>
        <p:spPr>
          <a:xfrm>
            <a:off x="7531456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88656" y="225856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SCOUT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549744" y="2752344"/>
            <a:ext cx="1664208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9744" y="287121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심층조사 · Scoring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8304" y="332841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Evidence · Rationale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396832" y="2093976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652864" y="2093976"/>
            <a:ext cx="2029968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5875">
            <a:solidFill>
              <a:srgbClr val="D9DF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54032" y="2276856"/>
            <a:ext cx="310896" cy="310896"/>
          </a:xfrm>
          <a:prstGeom prst="ellipse">
            <a:avLst/>
          </a:prstGeom>
          <a:solidFill>
            <a:srgbClr val="1E64C8"/>
          </a:solidFill>
          <a:ln/>
        </p:spPr>
      </p:sp>
      <p:sp>
        <p:nvSpPr>
          <p:cNvPr id="37" name="Text 35"/>
          <p:cNvSpPr/>
          <p:nvPr/>
        </p:nvSpPr>
        <p:spPr>
          <a:xfrm>
            <a:off x="9854032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0274656" y="2249424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9854032" y="2807208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0" name="Text 38"/>
          <p:cNvSpPr/>
          <p:nvPr/>
        </p:nvSpPr>
        <p:spPr>
          <a:xfrm>
            <a:off x="9854032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10274656" y="27797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854032" y="3337560"/>
            <a:ext cx="310896" cy="310896"/>
          </a:xfrm>
          <a:prstGeom prst="ellipse">
            <a:avLst/>
          </a:prstGeom>
          <a:solidFill>
            <a:srgbClr val="E1483C"/>
          </a:solidFill>
          <a:ln/>
        </p:spPr>
      </p:sp>
      <p:sp>
        <p:nvSpPr>
          <p:cNvPr id="43" name="Text 41"/>
          <p:cNvSpPr/>
          <p:nvPr/>
        </p:nvSpPr>
        <p:spPr>
          <a:xfrm>
            <a:off x="9854032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10274656" y="3310128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457200" y="4151376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1B2A5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151376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148840" y="4151376"/>
            <a:ext cx="7406640" cy="123444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31720" y="4768596"/>
            <a:ext cx="704088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0" y="4151376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TRIAGE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297680" y="4151376"/>
            <a:ext cx="2011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Reject / N/A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355080" y="4151376"/>
            <a:ext cx="30175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심층조사 대상 선별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377440" y="4768596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SCOUT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297680" y="4768596"/>
            <a:ext cx="2011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Review / Fail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55080" y="4768596"/>
            <a:ext cx="30175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Score Threshold에 따라 분류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555480" y="4151376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966960" y="4151376"/>
            <a:ext cx="1767535" cy="1234440"/>
          </a:xfrm>
          <a:prstGeom prst="roundRect">
            <a:avLst>
              <a:gd name="adj" fmla="val 4444"/>
            </a:avLst>
          </a:prstGeom>
          <a:solidFill>
            <a:srgbClr val="1B2A5C"/>
          </a:solidFill>
          <a:ln/>
        </p:spPr>
      </p:sp>
      <p:sp>
        <p:nvSpPr>
          <p:cNvPr id="57" name="Text 55"/>
          <p:cNvSpPr/>
          <p:nvPr/>
        </p:nvSpPr>
        <p:spPr>
          <a:xfrm>
            <a:off x="9966960" y="4151376"/>
            <a:ext cx="1767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실무진이 설정한 기준으로 빠짐없이 조사하고 Scoring합니다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임의로 판단하는 것이 아니라, 동일한 Rubric을 모든 Asset에 반복 적용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8" name="Text 6"/>
          <p:cNvSpPr/>
          <p:nvPr/>
        </p:nvSpPr>
        <p:spPr>
          <a:xfrm>
            <a:off x="1771650" y="1810512"/>
            <a:ext cx="2766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Scoring Rubric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56816"/>
            <a:ext cx="99441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4870" y="1956816"/>
            <a:ext cx="99441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22576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51176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322576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MoA Validity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2322576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2551176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04488" y="2322576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차별성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20440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32918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Evidence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3291840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3520440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04488" y="32918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Landscape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261104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489704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4261104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개발 리스크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46120" y="4261104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4489704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04488" y="4261104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Marketability 추정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5230368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458968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15568" y="52303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46120" y="5230368"/>
            <a:ext cx="2606040" cy="804672"/>
          </a:xfrm>
          <a:prstGeom prst="roundRect">
            <a:avLst>
              <a:gd name="adj" fmla="val 6818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29000" y="5458968"/>
            <a:ext cx="347472" cy="347472"/>
          </a:xfrm>
          <a:prstGeom prst="ellipse">
            <a:avLst/>
          </a:prstGeom>
          <a:solidFill>
            <a:srgbClr val="22357A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04488" y="523036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SKBP Strategic Fit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1773936"/>
            <a:ext cx="5516575" cy="4343400"/>
          </a:xfrm>
          <a:prstGeom prst="roundRect">
            <a:avLst>
              <a:gd name="adj" fmla="val 1684"/>
            </a:avLst>
          </a:prstGeom>
          <a:solidFill>
            <a:srgbClr val="1B2A5C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2029968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더 일관적인가?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83680" y="2487168"/>
            <a:ext cx="4785055" cy="0"/>
          </a:xfrm>
          <a:prstGeom prst="line">
            <a:avLst/>
          </a:prstGeom>
          <a:noFill/>
          <a:ln w="12700">
            <a:solidFill>
              <a:srgbClr val="3E4E8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267004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086600" y="2624328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Checklist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086600" y="2907792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Asset에 같은 평가항목 적용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583680" y="33832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86600" y="3337560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누락 최소화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086600" y="3621024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시간·피로와 무관하게 항목별 조사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583680" y="409651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086600" y="4050792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기반 Scoring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086600" y="4334256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Score와 Evidence를 함께 기록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583680" y="48097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086600" y="4764024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간 비교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086600" y="5047488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형식으로 결과를 구조화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492240" y="5568696"/>
            <a:ext cx="4967935" cy="384048"/>
          </a:xfrm>
          <a:prstGeom prst="roundRect">
            <a:avLst>
              <a:gd name="adj" fmla="val 50000"/>
            </a:avLst>
          </a:prstGeom>
          <a:solidFill>
            <a:srgbClr val="2A3B75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5568696"/>
            <a:ext cx="1655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 누락 ↓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148218" y="5568696"/>
            <a:ext cx="1655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일관성 ↑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148218" y="5641848"/>
            <a:ext cx="0" cy="237744"/>
          </a:xfrm>
          <a:prstGeom prst="line">
            <a:avLst/>
          </a:prstGeom>
          <a:noFill/>
          <a:ln w="9525">
            <a:solidFill>
              <a:srgbClr val="44559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804197" y="5568696"/>
            <a:ext cx="1655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비교 가능성 ↑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9804197" y="5641848"/>
            <a:ext cx="0" cy="237744"/>
          </a:xfrm>
          <a:prstGeom prst="line">
            <a:avLst/>
          </a:prstGeom>
          <a:noFill/>
          <a:ln w="9525">
            <a:solidFill>
              <a:srgbClr val="44559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 결과를 한눈에 보고, 질문하고, 전체 Asset과 비교합니다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데이터가 쌓일수록 Knowledge Wiki가 확장되고, 더 많은 검색·비교·분석이 가능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8" name="Text 6"/>
          <p:cNvSpPr/>
          <p:nvPr/>
        </p:nvSpPr>
        <p:spPr>
          <a:xfrm>
            <a:off x="4587088" y="17647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52648" y="1911096"/>
            <a:ext cx="10972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41768" y="1911096"/>
            <a:ext cx="10972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2112264"/>
            <a:ext cx="7162495" cy="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2112264"/>
            <a:ext cx="0" cy="27432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95848" y="2112264"/>
            <a:ext cx="0" cy="27432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585655" y="2112264"/>
            <a:ext cx="0" cy="274320"/>
          </a:xfrm>
          <a:prstGeom prst="line">
            <a:avLst/>
          </a:prstGeom>
          <a:noFill/>
          <a:ln w="15875">
            <a:solidFill>
              <a:srgbClr val="1E64C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4160520" cy="2834640"/>
          </a:xfrm>
          <a:prstGeom prst="roundRect">
            <a:avLst>
              <a:gd name="adj" fmla="val 2581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798064"/>
            <a:ext cx="457200" cy="457200"/>
          </a:xfrm>
          <a:prstGeom prst="ellipse">
            <a:avLst/>
          </a:prstGeom>
          <a:solidFill>
            <a:srgbClr val="1E64C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27980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Asset Pipeline Chat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3438144"/>
            <a:ext cx="361188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478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Full Scout Report에 즉시 질문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3986784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E9F0FB"/>
          </a:solidFill>
          <a:ln w="9525">
            <a:solidFill>
              <a:srgbClr val="1E6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86784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Asset의 가장 큰 개발 리스크와 추가로 확인해야 할 Data Gap은?”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3118104"/>
            <a:ext cx="2179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73563" y="4169664"/>
            <a:ext cx="1307409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306824"/>
            <a:ext cx="2179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· Target ·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· Company ·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 연결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36815" y="2523744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2F5F9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6855" y="2798064"/>
            <a:ext cx="457200" cy="457200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8" name="Text 26"/>
          <p:cNvSpPr/>
          <p:nvPr/>
        </p:nvSpPr>
        <p:spPr>
          <a:xfrm>
            <a:off x="7756855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51215" y="27980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Asset Knowledge Wiki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11135" y="3438144"/>
            <a:ext cx="374904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11135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축적된 전체 Pipeline을 검색·선별·비교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11135" y="3986784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E9F0FB"/>
          </a:solidFill>
          <a:ln w="9525">
            <a:solidFill>
              <a:srgbClr val="1E64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8295" y="403250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i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“PD Asset 중 SKBP가 우선 검토할 상위 2개를 선정하고, SKBP Fit·MoA Validity·경쟁력·Marketability·개발 리스크를 기준으로 비교해줘.”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632704"/>
            <a:ext cx="11277295" cy="502920"/>
          </a:xfrm>
          <a:prstGeom prst="roundRect">
            <a:avLst>
              <a:gd name="adj" fmla="val 50909"/>
            </a:avLst>
          </a:prstGeom>
          <a:solidFill>
            <a:srgbClr val="EFF6E4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6327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Report Q&amp;A   +   전체 Asset 검색   +   Asset vs. Asset 비교   +   축적 정보 기반 추가 분석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  | 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362895" y="292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업무는 AI에게, 실무자는 의사결정에 집중합니다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1,000개 이상의 Longlist Evaluation을 표준화·자동화하여, 조사보다 판단에 시간을 씁니다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6991923" cy="22860"/>
          </a:xfrm>
          <a:prstGeom prst="rect">
            <a:avLst/>
          </a:prstGeom>
          <a:solidFill>
            <a:srgbClr val="1E64C8"/>
          </a:solidFill>
          <a:ln/>
        </p:spPr>
      </p:sp>
      <p:sp>
        <p:nvSpPr>
          <p:cNvPr id="7" name="Shape 5"/>
          <p:cNvSpPr/>
          <p:nvPr/>
        </p:nvSpPr>
        <p:spPr>
          <a:xfrm>
            <a:off x="7449123" y="1591056"/>
            <a:ext cx="4285372" cy="2286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39696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1E6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94767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2357A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947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96896"/>
            <a:ext cx="384048" cy="384048"/>
          </a:xfrm>
          <a:prstGeom prst="roundRect">
            <a:avLst>
              <a:gd name="adj" fmla="val 7143"/>
            </a:avLst>
          </a:prstGeom>
          <a:ln w="15875">
            <a:solidFill>
              <a:srgbClr val="1E6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8330" y="2712110"/>
            <a:ext cx="230429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30" y="2788920"/>
            <a:ext cx="230429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30" y="2865730"/>
            <a:ext cx="230429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5511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17904" y="2596896"/>
            <a:ext cx="384048" cy="384048"/>
          </a:xfrm>
          <a:prstGeom prst="ellipse">
            <a:avLst/>
          </a:prstGeom>
          <a:ln w="15875">
            <a:solidFill>
              <a:srgbClr val="1E64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17904" y="2788920"/>
            <a:ext cx="384048" cy="0"/>
          </a:xfrm>
          <a:prstGeom prst="line">
            <a:avLst/>
          </a:prstGeom>
          <a:noFill/>
          <a:ln w="9525">
            <a:solidFill>
              <a:srgbClr val="1E64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25437" y="2596896"/>
            <a:ext cx="168981" cy="384048"/>
          </a:xfrm>
          <a:prstGeom prst="ellipse">
            <a:avLst/>
          </a:prstGeom>
          <a:ln w="9525">
            <a:solidFill>
              <a:srgbClr val="1E6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01952" y="25511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04288" y="2596896"/>
            <a:ext cx="384048" cy="384048"/>
          </a:xfrm>
          <a:prstGeom prst="roundRect">
            <a:avLst>
              <a:gd name="adj" fmla="val 7143"/>
            </a:avLst>
          </a:prstGeom>
          <a:ln w="15875">
            <a:solidFill>
              <a:srgbClr val="1E6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2688336" y="25511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90672" y="2635301"/>
            <a:ext cx="384048" cy="345643"/>
          </a:xfrm>
          <a:prstGeom prst="roundRect">
            <a:avLst>
              <a:gd name="adj" fmla="val 7937"/>
            </a:avLst>
          </a:prstGeom>
          <a:ln w="15875">
            <a:solidFill>
              <a:srgbClr val="1E64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5886" y="2596896"/>
            <a:ext cx="153619" cy="61448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 w="13970">
            <a:solidFill>
              <a:srgbClr val="1E64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5163" y="2735153"/>
            <a:ext cx="215067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5163" y="2811963"/>
            <a:ext cx="215067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5163" y="2888772"/>
            <a:ext cx="215067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511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77056" y="2596896"/>
            <a:ext cx="276515" cy="276515"/>
          </a:xfrm>
          <a:prstGeom prst="ellipse">
            <a:avLst/>
          </a:prstGeom>
          <a:ln w="17780">
            <a:solidFill>
              <a:srgbClr val="1E64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5086" y="2784926"/>
            <a:ext cx="115214" cy="115214"/>
          </a:xfrm>
          <a:prstGeom prst="line">
            <a:avLst/>
          </a:prstGeom>
          <a:noFill/>
          <a:ln w="20320">
            <a:solidFill>
              <a:srgbClr val="1E64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List → 웹 검색 → Excel 정리 → 평가 → 재검색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1520" y="3483864"/>
            <a:ext cx="3657600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621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작업에 많은 시간 소요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담당자마다 조사 깊이·범위가 달라짐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2756916"/>
            <a:ext cx="1234440" cy="822960"/>
          </a:xfrm>
          <a:prstGeom prst="rightArrow">
            <a:avLst/>
          </a:prstGeom>
          <a:solidFill>
            <a:srgbClr val="1E64C8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384962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Finder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2139696"/>
            <a:ext cx="556229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7CB3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1828" y="194767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3F7D20"/>
          </a:solidFill>
          <a:ln/>
        </p:spPr>
      </p:sp>
      <p:sp>
        <p:nvSpPr>
          <p:cNvPr id="38" name="Text 36"/>
          <p:cNvSpPr/>
          <p:nvPr/>
        </p:nvSpPr>
        <p:spPr>
          <a:xfrm>
            <a:off x="8221828" y="1947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28232" y="2590800"/>
            <a:ext cx="347472" cy="347472"/>
          </a:xfrm>
          <a:prstGeom prst="funnel">
            <a:avLst/>
          </a:prstGeom>
          <a:ln w="15875">
            <a:solidFill>
              <a:srgbClr val="1E64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2535936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Triage로 관심 Pipeline 선별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46520" y="3023616"/>
            <a:ext cx="501365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8232" y="3108960"/>
            <a:ext cx="250180" cy="250180"/>
          </a:xfrm>
          <a:prstGeom prst="ellipse">
            <a:avLst/>
          </a:prstGeom>
          <a:ln w="17780">
            <a:solidFill>
              <a:srgbClr val="1E64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98354" y="3279082"/>
            <a:ext cx="104242" cy="104242"/>
          </a:xfrm>
          <a:prstGeom prst="line">
            <a:avLst/>
          </a:prstGeom>
          <a:noFill/>
          <a:ln w="20320">
            <a:solidFill>
              <a:srgbClr val="1E64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3054096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Scout로 동일 기준의 심층 조사 · Scoring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46520" y="3541776"/>
            <a:ext cx="501365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28232" y="3608832"/>
            <a:ext cx="326441" cy="326441"/>
          </a:xfrm>
          <a:prstGeom prst="roundRect">
            <a:avLst>
              <a:gd name="adj" fmla="val 8403"/>
            </a:avLst>
          </a:prstGeom>
          <a:ln w="15875">
            <a:solidFill>
              <a:srgbClr val="1E64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3520" y="3706764"/>
            <a:ext cx="195864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3520" y="3772052"/>
            <a:ext cx="195864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93520" y="3837341"/>
            <a:ext cx="195864" cy="0"/>
          </a:xfrm>
          <a:prstGeom prst="line">
            <a:avLst/>
          </a:prstGeom>
          <a:noFill/>
          <a:ln w="12700">
            <a:solidFill>
              <a:srgbClr val="1E64C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77095" y="3800088"/>
            <a:ext cx="168981" cy="168981"/>
          </a:xfrm>
          <a:prstGeom prst="ellipse">
            <a:avLst/>
          </a:prstGeom>
          <a:solidFill>
            <a:srgbClr val="3F7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7095" y="3781800"/>
            <a:ext cx="168981" cy="168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70" dirty="0"/>
          </a:p>
        </p:txBody>
      </p:sp>
      <p:sp>
        <p:nvSpPr>
          <p:cNvPr id="52" name="Text 50"/>
          <p:cNvSpPr/>
          <p:nvPr/>
        </p:nvSpPr>
        <p:spPr>
          <a:xfrm>
            <a:off x="6995160" y="3572256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Report를 검토하고 핵심 의사결정에 집중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57200" y="4379976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645920" y="4764024"/>
            <a:ext cx="8899855" cy="0"/>
          </a:xfrm>
          <a:prstGeom prst="line">
            <a:avLst/>
          </a:prstGeom>
          <a:noFill/>
          <a:ln w="19050">
            <a:solidFill>
              <a:srgbClr val="1E64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45775" y="4764024"/>
            <a:ext cx="1051560" cy="0"/>
          </a:xfrm>
          <a:prstGeom prst="line">
            <a:avLst/>
          </a:prstGeom>
          <a:noFill/>
          <a:ln w="19050">
            <a:solidFill>
              <a:srgbClr val="7CB342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417320" y="4535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41732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417320" y="4535424"/>
            <a:ext cx="457200" cy="457200"/>
          </a:xfrm>
          <a:prstGeom prst="ellipse">
            <a:avLst/>
          </a:prstGeom>
          <a:ln w="15875">
            <a:solidFill>
              <a:srgbClr val="22357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5038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Cross-check로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" y="5294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정확성 검증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383938" y="4535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4383938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383938" y="4535424"/>
            <a:ext cx="457200" cy="457200"/>
          </a:xfrm>
          <a:prstGeom prst="ellipse">
            <a:avLst/>
          </a:prstGeom>
          <a:ln w="15875">
            <a:solidFill>
              <a:srgbClr val="2235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23818" y="5038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모드별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3423818" y="5294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일관성 점검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350557" y="4535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7350557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350557" y="4535424"/>
            <a:ext cx="457200" cy="457200"/>
          </a:xfrm>
          <a:prstGeom prst="ellipse">
            <a:avLst/>
          </a:prstGeom>
          <a:ln w="15875">
            <a:solidFill>
              <a:srgbClr val="2235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90437" y="5038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Cosmetics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6390437" y="5294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단순화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10317175" y="45354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10317175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10317175" y="4535424"/>
            <a:ext cx="457200" cy="457200"/>
          </a:xfrm>
          <a:prstGeom prst="ellipse">
            <a:avLst/>
          </a:prstGeom>
          <a:ln w="15875">
            <a:solidFill>
              <a:srgbClr val="22357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57055" y="5038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Innovation Team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9357055" y="5294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정보 축적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457200" y="5568696"/>
            <a:ext cx="11277295" cy="502920"/>
          </a:xfrm>
          <a:prstGeom prst="roundRect">
            <a:avLst>
              <a:gd name="adj" fmla="val 50909"/>
            </a:avLst>
          </a:prstGeom>
          <a:solidFill>
            <a:srgbClr val="EFF6E4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8680" y="5673852"/>
            <a:ext cx="292608" cy="292608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78" name="Text 76"/>
          <p:cNvSpPr/>
          <p:nvPr/>
        </p:nvSpPr>
        <p:spPr>
          <a:xfrm>
            <a:off x="868680" y="56555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79" name="Text 77"/>
          <p:cNvSpPr/>
          <p:nvPr/>
        </p:nvSpPr>
        <p:spPr>
          <a:xfrm>
            <a:off x="1325880" y="5568696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가능한 조사 업무는 줄이고, 실무자의 전략적 판단은 더 깊게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9DF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Biopharmaceuticals  |  Open Innovation Center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2026-07-16T05:47:27Z</dcterms:created>
  <dcterms:modified xsi:type="dcterms:W3CDTF">2026-07-16T05:47:27Z</dcterms:modified>
</cp:coreProperties>
</file>