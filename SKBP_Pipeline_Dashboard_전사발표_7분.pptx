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5120640" cy="4114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800" b="1">
                <a:solidFill>
                  <a:srgbClr val="2DD4BF"/>
                </a:solidFill>
                <a:latin typeface="Malgun Gothic"/>
              </a:rPr>
              <a:t>SKBP Pipeline Finder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6858000" cy="146304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4300" b="1">
                <a:solidFill>
                  <a:srgbClr val="F4F7FB"/>
                </a:solidFill>
                <a:latin typeface="Malgun Gothic"/>
              </a:rPr>
              <a:t>PreC Pipeline
Shortlisting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7818120" cy="566928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700" b="0">
                <a:solidFill>
                  <a:srgbClr val="B0C4DE"/>
                </a:solidFill>
                <a:latin typeface="Malgun Gothic"/>
              </a:rPr>
              <a:t>GPT 조사 결과를 JSON 단일 원본으로 모아 후보 비교·근거 검토·Wiki 재사용까지 지원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49039"/>
            <a:ext cx="1783080" cy="96012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3886200"/>
            <a:ext cx="150876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000" b="1">
                <a:solidFill>
                  <a:srgbClr val="B0C4DE"/>
                </a:solidFill>
                <a:latin typeface="Malgun Gothic"/>
              </a:rPr>
              <a:t>분석 레코드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142231"/>
            <a:ext cx="1508760" cy="4114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2300" b="1">
                <a:solidFill>
                  <a:srgbClr val="F4F7FB"/>
                </a:solidFill>
                <a:latin typeface="Malgun Gothic"/>
              </a:rPr>
              <a:t>32건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42032" y="3749039"/>
            <a:ext cx="1783080" cy="96012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88336" y="3886200"/>
            <a:ext cx="150876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000" b="1">
                <a:solidFill>
                  <a:srgbClr val="B0C4DE"/>
                </a:solidFill>
                <a:latin typeface="Malgun Gothic"/>
              </a:rPr>
              <a:t>PASS/SELECT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88336" y="4142231"/>
            <a:ext cx="1508760" cy="4114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2300" b="1">
                <a:solidFill>
                  <a:srgbClr val="F4F7FB"/>
                </a:solidFill>
                <a:latin typeface="Malgun Gothic"/>
              </a:rPr>
              <a:t>14건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17136" y="3749039"/>
            <a:ext cx="1783080" cy="96012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3886200"/>
            <a:ext cx="150876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000" b="1">
                <a:solidFill>
                  <a:srgbClr val="B0C4DE"/>
                </a:solidFill>
                <a:latin typeface="Malgun Gothic"/>
              </a:rPr>
              <a:t>Target Relevance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4142231"/>
            <a:ext cx="1508760" cy="4114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2300" b="1">
                <a:solidFill>
                  <a:srgbClr val="F4F7FB"/>
                </a:solidFill>
                <a:latin typeface="Malgun Gothic"/>
              </a:rPr>
              <a:t>2.1/3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3749039"/>
            <a:ext cx="1874519" cy="96012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38544" y="3886200"/>
            <a:ext cx="1600199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000" b="1">
                <a:solidFill>
                  <a:srgbClr val="B0C4DE"/>
                </a:solidFill>
                <a:latin typeface="Malgun Gothic"/>
              </a:rPr>
              <a:t>Wiki Graph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38544" y="4142231"/>
            <a:ext cx="1600199" cy="4114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2300" b="1">
                <a:solidFill>
                  <a:srgbClr val="F4F7FB"/>
                </a:solidFill>
                <a:latin typeface="Malgun Gothic"/>
              </a:rPr>
              <a:t>477 nodes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502920"/>
            <a:ext cx="2331720" cy="4663440"/>
          </a:xfrm>
          <a:prstGeom prst="roundRect">
            <a:avLst/>
          </a:prstGeom>
          <a:solidFill>
            <a:srgbClr val="08111F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dashboard_top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0" y="2141696"/>
            <a:ext cx="2057400" cy="115728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66928" y="5989320"/>
            <a:ext cx="4114800" cy="32004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400" b="1">
                <a:solidFill>
                  <a:srgbClr val="FBBF24"/>
                </a:solidFill>
                <a:latin typeface="Malgun Gothic"/>
              </a:rPr>
              <a:t>전사 설명회 초안 · 7분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748BA8"/>
                </a:solidFill>
                <a:latin typeface="Malgun Gothic"/>
              </a:rP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100" b="1">
                <a:solidFill>
                  <a:srgbClr val="2DD4BF"/>
                </a:solidFill>
                <a:latin typeface="Malgun Gothic"/>
              </a:rPr>
              <a:t>SKBP Pipeline Finder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8961120" cy="59436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3400" b="1">
                <a:solidFill>
                  <a:srgbClr val="F4F7FB"/>
                </a:solidFill>
                <a:latin typeface="Malgun Gothic"/>
              </a:rPr>
              <a:t>왜 만들었나: ‘후보 검토’의 병목을 줄이는 도구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3246120" cy="237744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2011680" cy="4114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2400" b="1">
                <a:solidFill>
                  <a:srgbClr val="FB7185"/>
                </a:solidFill>
                <a:latin typeface="Malgun Gothic"/>
              </a:rPr>
              <a:t>Before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2697480" cy="9144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700" b="0">
                <a:solidFill>
                  <a:srgbClr val="F4F7FB"/>
                </a:solidFill>
                <a:latin typeface="Malgun Gothic"/>
              </a:rPr>
              <a:t>리포트·출처·점수가 흩어져
후보 비교가 느림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91640"/>
            <a:ext cx="3246120" cy="237744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74519"/>
            <a:ext cx="2011680" cy="4114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2400" b="1">
                <a:solidFill>
                  <a:srgbClr val="FBBF24"/>
                </a:solidFill>
                <a:latin typeface="Malgun Gothic"/>
              </a:rPr>
              <a:t>Need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514600"/>
            <a:ext cx="2697480" cy="9144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700" b="0">
                <a:solidFill>
                  <a:srgbClr val="F4F7FB"/>
                </a:solidFill>
                <a:latin typeface="Malgun Gothic"/>
              </a:rPr>
              <a:t>같은 기준으로 빠르게 선별하고
점수 근거를 추적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691640"/>
            <a:ext cx="3246120" cy="237744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874519"/>
            <a:ext cx="2011680" cy="4114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2400" b="1">
                <a:solidFill>
                  <a:srgbClr val="2DD4BF"/>
                </a:solidFill>
                <a:latin typeface="Malgun Gothic"/>
              </a:rPr>
              <a:t>After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514600"/>
            <a:ext cx="2697480" cy="9144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700" b="0">
                <a:solidFill>
                  <a:srgbClr val="F4F7FB"/>
                </a:solidFill>
                <a:latin typeface="Malgun Gothic"/>
              </a:rPr>
              <a:t>JSON 대시보드에서
비교·필터·근거 확인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663440"/>
            <a:ext cx="2286000" cy="32004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800" b="1">
                <a:solidFill>
                  <a:srgbClr val="2DD4BF"/>
                </a:solidFill>
                <a:latin typeface="Malgun Gothic"/>
              </a:rPr>
              <a:t>핵심 메시지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07492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4F7FB"/>
                </a:solidFill>
                <a:latin typeface="Malgun Gothic"/>
              </a:defRPr>
            </a:pPr>
            <a:r>
              <a:t>전략 후보 탐색을 ‘문서 읽기’에서 ‘데이터 기반 의사결정’으로 전환</a:t>
            </a:r>
          </a:p>
          <a:p>
            <a:pPr>
              <a:spcAft>
                <a:spcPts val="800"/>
              </a:spcAft>
              <a:defRPr sz="1500">
                <a:solidFill>
                  <a:srgbClr val="F4F7FB"/>
                </a:solidFill>
                <a:latin typeface="Malgun Gothic"/>
              </a:defRPr>
            </a:pPr>
            <a:r>
              <a:t>Fast Triage → Full Scout → Dashboard/Wiki로 이어지는 반복 가능한 프로세스</a:t>
            </a:r>
          </a:p>
          <a:p>
            <a:pPr>
              <a:spcAft>
                <a:spcPts val="800"/>
              </a:spcAft>
              <a:defRPr sz="1500">
                <a:solidFill>
                  <a:srgbClr val="F4F7FB"/>
                </a:solidFill>
                <a:latin typeface="Malgun Gothic"/>
              </a:defRPr>
            </a:pPr>
            <a:r>
              <a:t>출처·점수·불확실성을 함께 남겨 사후 검토와 인수인계가 쉬움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748BA8"/>
                </a:solidFill>
                <a:latin typeface="Malgun Gothic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100" b="1">
                <a:solidFill>
                  <a:srgbClr val="2DD4BF"/>
                </a:solidFill>
                <a:latin typeface="Malgun Gothic"/>
              </a:rPr>
              <a:t>SKBP Pipeline Finder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8961120" cy="59436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3400" b="1">
                <a:solidFill>
                  <a:srgbClr val="F4F7FB"/>
                </a:solidFill>
                <a:latin typeface="Malgun Gothic"/>
              </a:rPr>
              <a:t>제작 과정: GPT 결과를 운영 가능한 파이프라인으로 구조화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1965960" cy="205740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965960"/>
            <a:ext cx="411480" cy="4114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2200" b="1">
                <a:solidFill>
                  <a:srgbClr val="2DD4BF"/>
                </a:solidFill>
                <a:latin typeface="Malgun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2487168"/>
            <a:ext cx="1600200" cy="59436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800" b="1">
                <a:solidFill>
                  <a:srgbClr val="F4F7FB"/>
                </a:solidFill>
                <a:latin typeface="Malgun Gothic"/>
              </a:rPr>
              <a:t>GPT 1
Fast Triage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3154680"/>
            <a:ext cx="1572768" cy="5029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100" b="0">
                <a:solidFill>
                  <a:srgbClr val="B0C4DE"/>
                </a:solidFill>
                <a:latin typeface="Malgun Gothic"/>
              </a:rPr>
              <a:t>여러 asset을 SELECT / REJECT / N/A로 1차 선별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32888" y="2606040"/>
            <a:ext cx="320040" cy="32004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2600" b="1">
                <a:solidFill>
                  <a:srgbClr val="8BA8FF"/>
                </a:solidFill>
                <a:latin typeface="Malgun Gothic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39" y="1828800"/>
            <a:ext cx="1965960" cy="205740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9232" y="1965960"/>
            <a:ext cx="411480" cy="4114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2200" b="1">
                <a:solidFill>
                  <a:srgbClr val="2DD4BF"/>
                </a:solidFill>
                <a:latin typeface="Malgun Goth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35808" y="2487168"/>
            <a:ext cx="1600200" cy="59436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800" b="1">
                <a:solidFill>
                  <a:srgbClr val="F4F7FB"/>
                </a:solidFill>
                <a:latin typeface="Malgun Gothic"/>
              </a:rPr>
              <a:t>GPT 2
Full Scout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5808" y="3154680"/>
            <a:ext cx="1572768" cy="5029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100" b="0">
                <a:solidFill>
                  <a:srgbClr val="B0C4DE"/>
                </a:solidFill>
                <a:latin typeface="Malgun Gothic"/>
              </a:rPr>
              <a:t>선정 후보를 v3.1 rubric에 맞춰 깊게 조사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64608" y="2606040"/>
            <a:ext cx="320040" cy="32004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2600" b="1">
                <a:solidFill>
                  <a:srgbClr val="8BA8FF"/>
                </a:solidFill>
                <a:latin typeface="Malgun Gothi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59" y="1828800"/>
            <a:ext cx="1965960" cy="205740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0951" y="1965960"/>
            <a:ext cx="411480" cy="4114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2200" b="1">
                <a:solidFill>
                  <a:srgbClr val="2DD4BF"/>
                </a:solidFill>
                <a:latin typeface="Malgun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67527" y="2487168"/>
            <a:ext cx="1600200" cy="59436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800" b="1">
                <a:solidFill>
                  <a:srgbClr val="F4F7FB"/>
                </a:solidFill>
                <a:latin typeface="Malgun Gothic"/>
              </a:rPr>
              <a:t>JSON Schema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67527" y="3154680"/>
            <a:ext cx="1572768" cy="5029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100" b="0">
                <a:solidFill>
                  <a:srgbClr val="B0C4DE"/>
                </a:solidFill>
                <a:latin typeface="Malgun Gothic"/>
              </a:rPr>
              <a:t>pipeline-records.json에 동일 구조로 저장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96327" y="2606040"/>
            <a:ext cx="320040" cy="32004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2600" b="1">
                <a:solidFill>
                  <a:srgbClr val="8BA8FF"/>
                </a:solidFill>
                <a:latin typeface="Malgun Gothi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1828800"/>
            <a:ext cx="1965960" cy="205740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62671" y="1965960"/>
            <a:ext cx="411480" cy="4114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2200" b="1">
                <a:solidFill>
                  <a:srgbClr val="2DD4BF"/>
                </a:solidFill>
                <a:latin typeface="Malgun Gothic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99248" y="2487168"/>
            <a:ext cx="1600200" cy="59436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800" b="1">
                <a:solidFill>
                  <a:srgbClr val="F4F7FB"/>
                </a:solidFill>
                <a:latin typeface="Malgun Gothic"/>
              </a:rPr>
              <a:t>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3154680"/>
            <a:ext cx="1572768" cy="5029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100" b="0">
                <a:solidFill>
                  <a:srgbClr val="B0C4DE"/>
                </a:solidFill>
                <a:latin typeface="Malgun Gothic"/>
              </a:rPr>
              <a:t>필터·정렬·차트·상세 근거 검토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8048" y="2606040"/>
            <a:ext cx="320040" cy="32004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2600" b="1">
                <a:solidFill>
                  <a:srgbClr val="8BA8FF"/>
                </a:solidFill>
                <a:latin typeface="Malgun Gothic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29800" y="1828800"/>
            <a:ext cx="1965960" cy="205740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94392" y="1965960"/>
            <a:ext cx="411480" cy="4114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2200" b="1">
                <a:solidFill>
                  <a:srgbClr val="2DD4BF"/>
                </a:solidFill>
                <a:latin typeface="Malgun Gothic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30968" y="2487168"/>
            <a:ext cx="1600200" cy="59436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800" b="1">
                <a:solidFill>
                  <a:srgbClr val="F4F7FB"/>
                </a:solidFill>
                <a:latin typeface="Malgun Gothic"/>
              </a:rPr>
              <a:t>Wiki Export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30968" y="3154680"/>
            <a:ext cx="1572768" cy="5029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100" b="0">
                <a:solidFill>
                  <a:srgbClr val="B0C4DE"/>
                </a:solidFill>
                <a:latin typeface="Malgun Gothic"/>
              </a:rPr>
              <a:t>Obsidian/Markdown note와 graph로 확장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754880"/>
            <a:ext cx="10789920" cy="822960"/>
          </a:xfrm>
          <a:prstGeom prst="roundRect">
            <a:avLst/>
          </a:prstGeom>
          <a:solidFill>
            <a:srgbClr val="08111F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992624"/>
            <a:ext cx="10241280" cy="2743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600" b="1">
                <a:solidFill>
                  <a:srgbClr val="F4F7FB"/>
                </a:solidFill>
                <a:latin typeface="Malgun Gothic"/>
              </a:rPr>
              <a:t>운영 원칙: JSON이 단일 원본(Single Source of Truth)이고, 대시보드와 Wiki는 JSON에서 생성되는 산출물입니다.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748BA8"/>
                </a:solidFill>
                <a:latin typeface="Malgun Gothic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100" b="1">
                <a:solidFill>
                  <a:srgbClr val="2DD4BF"/>
                </a:solidFill>
                <a:latin typeface="Malgun Gothic"/>
              </a:rPr>
              <a:t>SKBP Pipeline Finder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8961120" cy="59436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3400" b="1">
                <a:solidFill>
                  <a:srgbClr val="F4F7FB"/>
                </a:solidFill>
                <a:latin typeface="Malgun Gothic"/>
              </a:rPr>
              <a:t>어떻게 돌아가나: 단순하지만 확장 가능한 아키텍처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2057400" cy="114300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2011680"/>
            <a:ext cx="1645920" cy="2743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600" b="1">
                <a:solidFill>
                  <a:srgbClr val="8BA8FF"/>
                </a:solidFill>
                <a:latin typeface="Malgun Gothic"/>
              </a:rPr>
              <a:t>브라우저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2359152"/>
            <a:ext cx="1691640" cy="4114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100" b="0">
                <a:solidFill>
                  <a:srgbClr val="F4F7FB"/>
                </a:solidFill>
                <a:latin typeface="Malgun Gothic"/>
              </a:rPr>
              <a:t>index/detail/wiki_view
ES module + CSS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4680" y="1828800"/>
            <a:ext cx="2057400" cy="114300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19272" y="2011680"/>
            <a:ext cx="1645920" cy="2743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600" b="1">
                <a:solidFill>
                  <a:srgbClr val="2DD4BF"/>
                </a:solidFill>
                <a:latin typeface="Malgun Gothic"/>
              </a:rPr>
              <a:t>FastAPI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9272" y="2359152"/>
            <a:ext cx="1691640" cy="4114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100" b="0">
                <a:solidFill>
                  <a:srgbClr val="F4F7FB"/>
                </a:solidFill>
                <a:latin typeface="Malgun Gothic"/>
              </a:rPr>
              <a:t>main.py
REST + static files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1828800"/>
            <a:ext cx="2057400" cy="114300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33872" y="2011680"/>
            <a:ext cx="1645920" cy="2743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600" b="1">
                <a:solidFill>
                  <a:srgbClr val="FBBF24"/>
                </a:solidFill>
                <a:latin typeface="Malgun Gothic"/>
              </a:rPr>
              <a:t>JSON Store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33872" y="2359152"/>
            <a:ext cx="1691640" cy="4114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100" b="0">
                <a:solidFill>
                  <a:srgbClr val="F4F7FB"/>
                </a:solidFill>
                <a:latin typeface="Malgun Gothic"/>
              </a:rPr>
              <a:t>json/pipeline-records.json
schema + rubric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828800"/>
            <a:ext cx="2057400" cy="114300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8471" y="2011680"/>
            <a:ext cx="1645920" cy="2743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600" b="1">
                <a:solidFill>
                  <a:srgbClr val="A78BFA"/>
                </a:solidFill>
                <a:latin typeface="Malgun Gothic"/>
              </a:rPr>
              <a:t>Exports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1" y="2359152"/>
            <a:ext cx="1691640" cy="4114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100" b="0">
                <a:solidFill>
                  <a:srgbClr val="F4F7FB"/>
                </a:solidFill>
                <a:latin typeface="Malgun Gothic"/>
              </a:rPr>
              <a:t>obsidian/
skbp_pipeline_wiki/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4251960"/>
            <a:ext cx="2057400" cy="114300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33872" y="4434840"/>
            <a:ext cx="1645920" cy="2743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600" b="1">
                <a:solidFill>
                  <a:srgbClr val="FB7185"/>
                </a:solidFill>
                <a:latin typeface="Malgun Gothic"/>
              </a:rPr>
              <a:t>LLM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33872" y="4782312"/>
            <a:ext cx="1691640" cy="4114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100" b="0">
                <a:solidFill>
                  <a:srgbClr val="F4F7FB"/>
                </a:solidFill>
                <a:latin typeface="Malgun Gothic"/>
              </a:rPr>
              <a:t>OpenRouter API
JSON + Wiki retrieval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697480" y="2395728"/>
            <a:ext cx="365760" cy="0"/>
          </a:xfrm>
          <a:prstGeom prst="line">
            <a:avLst/>
          </a:prstGeom>
          <a:ln w="254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212080" y="2395728"/>
            <a:ext cx="365760" cy="0"/>
          </a:xfrm>
          <a:prstGeom prst="line">
            <a:avLst/>
          </a:prstGeom>
          <a:ln w="254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726679" y="2395728"/>
            <a:ext cx="365761" cy="0"/>
          </a:xfrm>
          <a:prstGeom prst="line">
            <a:avLst/>
          </a:prstGeom>
          <a:ln w="254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675120" y="3017520"/>
            <a:ext cx="0" cy="1143000"/>
          </a:xfrm>
          <a:prstGeom prst="line">
            <a:avLst/>
          </a:prstGeom>
          <a:ln w="254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49808" y="4892040"/>
            <a:ext cx="2286000" cy="2743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600" b="1">
                <a:solidFill>
                  <a:srgbClr val="2DD4BF"/>
                </a:solidFill>
                <a:latin typeface="Malgun Gothic"/>
              </a:rPr>
              <a:t>핵심 엔드포인트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285232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4F7FB"/>
                </a:solidFill>
                <a:latin typeface="Malgun Gothic"/>
              </a:defRPr>
            </a:pPr>
            <a:r>
              <a:t>GET /api/records, PUT/POST /api/records: 후보 데이터 조회·저장</a:t>
            </a:r>
          </a:p>
          <a:p>
            <a:pPr>
              <a:spcAft>
                <a:spcPts val="800"/>
              </a:spcAft>
              <a:defRPr sz="1300">
                <a:solidFill>
                  <a:srgbClr val="F4F7FB"/>
                </a:solidFill>
                <a:latin typeface="Malgun Gothic"/>
              </a:defRPr>
            </a:pPr>
            <a:r>
              <a:t>POST /api/wiki/export, /api/markdown/export: Markdown/Wiki 재생성</a:t>
            </a:r>
          </a:p>
          <a:p>
            <a:pPr>
              <a:spcAft>
                <a:spcPts val="800"/>
              </a:spcAft>
              <a:defRPr sz="1300">
                <a:solidFill>
                  <a:srgbClr val="F4F7FB"/>
                </a:solidFill>
                <a:latin typeface="Malgun Gothic"/>
              </a:defRPr>
            </a:pPr>
            <a:r>
              <a:t>POST /api/chat/stream: 선택 asset 또는 대시보드 맥락으로 AI 질의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748BA8"/>
                </a:solidFill>
                <a:latin typeface="Malgun Gothic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100" b="1">
                <a:solidFill>
                  <a:srgbClr val="2DD4BF"/>
                </a:solidFill>
                <a:latin typeface="Malgun Gothic"/>
              </a:rPr>
              <a:t>SKBP Pipeline Finder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8961120" cy="59436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3400" b="1">
                <a:solidFill>
                  <a:srgbClr val="F4F7FB"/>
                </a:solidFill>
                <a:latin typeface="Malgun Gothic"/>
              </a:rPr>
              <a:t>대시보드 한눈에 보기: 후보군을 숫자와 차트로 즉시 파악</a:t>
            </a:r>
          </a:p>
        </p:txBody>
      </p:sp>
      <p:pic>
        <p:nvPicPr>
          <p:cNvPr id="4" name="Picture 3" descr="dashboard_top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31619"/>
            <a:ext cx="8046720" cy="45262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823960" y="1481328"/>
            <a:ext cx="2834640" cy="461772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0" y="1737360"/>
            <a:ext cx="2194560" cy="32004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900" b="1">
                <a:solidFill>
                  <a:srgbClr val="2DD4BF"/>
                </a:solidFill>
                <a:latin typeface="Malgun Gothic"/>
              </a:rPr>
              <a:t>화면 구성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98280" y="2240280"/>
            <a:ext cx="22402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4F7FB"/>
                </a:solidFill>
                <a:latin typeface="Malgun Gothic"/>
              </a:defRPr>
            </a:pPr>
            <a:r>
              <a:t>총 분석 건수·PASS/SELECT·평균 TR 등 KPI</a:t>
            </a:r>
          </a:p>
          <a:p>
            <a:pPr>
              <a:spcAft>
                <a:spcPts val="800"/>
              </a:spcAft>
              <a:defRPr sz="1300">
                <a:solidFill>
                  <a:srgbClr val="F4F7FB"/>
                </a:solidFill>
                <a:latin typeface="Malgun Gothic"/>
              </a:defRPr>
            </a:pPr>
            <a:r>
              <a:t>Target/Theme/국가/Filter 분포 차트</a:t>
            </a:r>
          </a:p>
          <a:p>
            <a:pPr>
              <a:spcAft>
                <a:spcPts val="800"/>
              </a:spcAft>
              <a:defRPr sz="1300">
                <a:solidFill>
                  <a:srgbClr val="F4F7FB"/>
                </a:solidFill>
                <a:latin typeface="Malgun Gothic"/>
              </a:defRPr>
            </a:pPr>
            <a:r>
              <a:t>Priority Watch: 상위 후보 즉시 진입</a:t>
            </a:r>
          </a:p>
          <a:p>
            <a:pPr>
              <a:spcAft>
                <a:spcPts val="800"/>
              </a:spcAft>
              <a:defRPr sz="1300">
                <a:solidFill>
                  <a:srgbClr val="F4F7FB"/>
                </a:solidFill>
                <a:latin typeface="Malgun Gothic"/>
              </a:defRPr>
            </a:pPr>
            <a:r>
              <a:t>검색·Stage·Theme·Cluster·국가·적응증 필터</a:t>
            </a:r>
          </a:p>
          <a:p>
            <a:pPr>
              <a:spcAft>
                <a:spcPts val="800"/>
              </a:spcAft>
              <a:defRPr sz="1300">
                <a:solidFill>
                  <a:srgbClr val="F4F7FB"/>
                </a:solidFill>
                <a:latin typeface="Malgun Gothic"/>
              </a:defRPr>
            </a:pPr>
            <a:r>
              <a:t>테이블 정렬, 페이지 크기, 컬럼 설정, Excel export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748BA8"/>
                </a:solidFill>
                <a:latin typeface="Malgun Gothic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100" b="1">
                <a:solidFill>
                  <a:srgbClr val="2DD4BF"/>
                </a:solidFill>
                <a:latin typeface="Malgun Gothic"/>
              </a:rPr>
              <a:t>SKBP Pipeline Finder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8961120" cy="59436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3400" b="1">
                <a:solidFill>
                  <a:srgbClr val="F4F7FB"/>
                </a:solidFill>
                <a:latin typeface="Malgun Gothic"/>
              </a:rPr>
              <a:t>현재 데이터: 32개 후보를 5개 관점으로 비교</a:t>
            </a:r>
          </a:p>
        </p:txBody>
      </p:sp>
      <p:pic>
        <p:nvPicPr>
          <p:cNvPr id="4" name="Picture 3" descr="data_snap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39180"/>
            <a:ext cx="6766560" cy="381387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18120" y="1417320"/>
            <a:ext cx="1600200" cy="96012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64424" y="1554480"/>
            <a:ext cx="132588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000" b="1">
                <a:solidFill>
                  <a:srgbClr val="B0C4DE"/>
                </a:solidFill>
                <a:latin typeface="Malgun Gothic"/>
              </a:rPr>
              <a:t>분석 건수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64424" y="1810512"/>
            <a:ext cx="1325880" cy="4114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2300" b="1">
                <a:solidFill>
                  <a:srgbClr val="F4F7FB"/>
                </a:solidFill>
                <a:latin typeface="Malgun Gothic"/>
              </a:rPr>
              <a:t>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46920" y="1417320"/>
            <a:ext cx="1600200" cy="96012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93224" y="1554480"/>
            <a:ext cx="132588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000" b="1">
                <a:solidFill>
                  <a:srgbClr val="B0C4DE"/>
                </a:solidFill>
                <a:latin typeface="Malgun Gothic"/>
              </a:rPr>
              <a:t>PASS/SELECT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93224" y="1810512"/>
            <a:ext cx="1325880" cy="4114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2300" b="1">
                <a:solidFill>
                  <a:srgbClr val="F4F7FB"/>
                </a:solidFill>
                <a:latin typeface="Malgun Gothic"/>
              </a:rPr>
              <a:t>14/32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2606040"/>
            <a:ext cx="1600200" cy="96012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64424" y="2743200"/>
            <a:ext cx="132588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000" b="1">
                <a:solidFill>
                  <a:srgbClr val="B0C4DE"/>
                </a:solidFill>
                <a:latin typeface="Malgun Gothic"/>
              </a:rPr>
              <a:t>평균 총점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64424" y="2999232"/>
            <a:ext cx="1325880" cy="4114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2300" b="1">
                <a:solidFill>
                  <a:srgbClr val="F4F7FB"/>
                </a:solidFill>
                <a:latin typeface="Malgun Gothic"/>
              </a:rPr>
              <a:t>12.1/21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46920" y="2606040"/>
            <a:ext cx="1600200" cy="96012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93224" y="2743200"/>
            <a:ext cx="132588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000" b="1">
                <a:solidFill>
                  <a:srgbClr val="B0C4DE"/>
                </a:solidFill>
                <a:latin typeface="Malgun Gothic"/>
              </a:rPr>
              <a:t>평균 TR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93224" y="2999232"/>
            <a:ext cx="1325880" cy="4114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2300" b="1">
                <a:solidFill>
                  <a:srgbClr val="F4F7FB"/>
                </a:solidFill>
                <a:latin typeface="Malgun Gothic"/>
              </a:rPr>
              <a:t>2.1/3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3886200"/>
            <a:ext cx="3429000" cy="160020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28431" y="4096512"/>
            <a:ext cx="2286000" cy="2743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600" b="1">
                <a:solidFill>
                  <a:srgbClr val="2DD4BF"/>
                </a:solidFill>
                <a:latin typeface="Malgun Gothic"/>
              </a:rPr>
              <a:t>해석 포인트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480560"/>
            <a:ext cx="2880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F4F7FB"/>
                </a:solidFill>
                <a:latin typeface="Malgun Gothic"/>
              </a:defRPr>
            </a:pPr>
            <a:r>
              <a:t>E/I Balance와 Neuroimmune 중심으로 분포</a:t>
            </a:r>
          </a:p>
          <a:p>
            <a:pPr>
              <a:spcAft>
                <a:spcPts val="800"/>
              </a:spcAft>
              <a:defRPr sz="1100">
                <a:solidFill>
                  <a:srgbClr val="F4F7FB"/>
                </a:solidFill>
                <a:latin typeface="Malgun Gothic"/>
              </a:defRPr>
            </a:pPr>
            <a:r>
              <a:t>중국·미국·한국 후보가 주요 비중</a:t>
            </a:r>
          </a:p>
          <a:p>
            <a:pPr>
              <a:spcAft>
                <a:spcPts val="800"/>
              </a:spcAft>
              <a:defRPr sz="1100">
                <a:solidFill>
                  <a:srgbClr val="F4F7FB"/>
                </a:solidFill>
                <a:latin typeface="Malgun Gothic"/>
              </a:defRPr>
            </a:pPr>
            <a:r>
              <a:t>Ion Channel, Cytokine/교세포 등 SKBP 관심 cluster로 재분류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748BA8"/>
                </a:solidFill>
                <a:latin typeface="Malgun Gothic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100" b="1">
                <a:solidFill>
                  <a:srgbClr val="2DD4BF"/>
                </a:solidFill>
                <a:latin typeface="Malgun Gothic"/>
              </a:rPr>
              <a:t>SKBP Pipeline Finder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8961120" cy="59436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3400" b="1">
                <a:solidFill>
                  <a:srgbClr val="F4F7FB"/>
                </a:solidFill>
                <a:latin typeface="Malgun Gothic"/>
              </a:rPr>
              <a:t>판단 기준: 점수만이 아니라 ‘왜 그 점수인가’를 남김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2331720" cy="77724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1" y="1673351"/>
            <a:ext cx="196596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300" b="1">
                <a:solidFill>
                  <a:srgbClr val="F4F7FB"/>
                </a:solidFill>
                <a:latin typeface="Malgun Gothic"/>
              </a:rPr>
              <a:t>Target Relevance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1965960"/>
            <a:ext cx="1920240" cy="1828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000" b="0">
                <a:solidFill>
                  <a:srgbClr val="B0C4DE"/>
                </a:solidFill>
                <a:latin typeface="Malgun Gothic"/>
              </a:rPr>
              <a:t>0–3점 + Evidence Type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508760"/>
            <a:ext cx="2331720" cy="77724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93592" y="1673351"/>
            <a:ext cx="196596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300" b="1">
                <a:solidFill>
                  <a:srgbClr val="F4F7FB"/>
                </a:solidFill>
                <a:latin typeface="Malgun Gothic"/>
              </a:rPr>
              <a:t>Competitive Landscape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93592" y="1965960"/>
            <a:ext cx="1920240" cy="1828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000" b="0">
                <a:solidFill>
                  <a:srgbClr val="B0C4DE"/>
                </a:solidFill>
                <a:latin typeface="Malgun Gothic"/>
              </a:rPr>
              <a:t>0–3점 + Evidence Type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2331720" cy="77724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673351"/>
            <a:ext cx="196596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300" b="1">
                <a:solidFill>
                  <a:srgbClr val="F4F7FB"/>
                </a:solidFill>
                <a:latin typeface="Malgun Gothic"/>
              </a:rPr>
              <a:t>MoA Validity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1965960"/>
            <a:ext cx="1920240" cy="1828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000" b="0">
                <a:solidFill>
                  <a:srgbClr val="B0C4DE"/>
                </a:solidFill>
                <a:latin typeface="Malgun Gothic"/>
              </a:rPr>
              <a:t>0–3점 + Evidence Type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39" y="1508760"/>
            <a:ext cx="2331720" cy="77724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71431" y="1673351"/>
            <a:ext cx="196596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300" b="1">
                <a:solidFill>
                  <a:srgbClr val="F4F7FB"/>
                </a:solidFill>
                <a:latin typeface="Malgun Gothic"/>
              </a:rPr>
              <a:t>Platform Attractiveness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71431" y="1965960"/>
            <a:ext cx="1920240" cy="1828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000" b="0">
                <a:solidFill>
                  <a:srgbClr val="B0C4DE"/>
                </a:solidFill>
                <a:latin typeface="Malgun Gothic"/>
              </a:rPr>
              <a:t>0–3점 + Evidence Type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651760"/>
            <a:ext cx="2331720" cy="77724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2816352"/>
            <a:ext cx="196596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300" b="1">
                <a:solidFill>
                  <a:srgbClr val="F4F7FB"/>
                </a:solidFill>
                <a:latin typeface="Malgun Gothic"/>
              </a:rPr>
              <a:t>Expansion Potential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" y="3108960"/>
            <a:ext cx="1920240" cy="1828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000" b="0">
                <a:solidFill>
                  <a:srgbClr val="B0C4DE"/>
                </a:solidFill>
                <a:latin typeface="Malgun Gothic"/>
              </a:rPr>
              <a:t>0–3점 + Evidence Type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29000" y="2651760"/>
            <a:ext cx="2331720" cy="77724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93592" y="2816352"/>
            <a:ext cx="196596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300" b="1">
                <a:solidFill>
                  <a:srgbClr val="F4F7FB"/>
                </a:solidFill>
                <a:latin typeface="Malgun Gothic"/>
              </a:rPr>
              <a:t>Data Maturity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93592" y="3108960"/>
            <a:ext cx="1920240" cy="1828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000" b="0">
                <a:solidFill>
                  <a:srgbClr val="B0C4DE"/>
                </a:solidFill>
                <a:latin typeface="Malgun Gothic"/>
              </a:rPr>
              <a:t>0–3점 + Evidence Type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651760"/>
            <a:ext cx="2331720" cy="77724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2816352"/>
            <a:ext cx="196596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300" b="1">
                <a:solidFill>
                  <a:srgbClr val="F4F7FB"/>
                </a:solidFill>
                <a:latin typeface="Malgun Gothic"/>
              </a:rPr>
              <a:t>Marketability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3108960"/>
            <a:ext cx="1920240" cy="1828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000" b="0">
                <a:solidFill>
                  <a:srgbClr val="B0C4DE"/>
                </a:solidFill>
                <a:latin typeface="Malgun Gothic"/>
              </a:rPr>
              <a:t>0–3점 + Evidence Type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251960"/>
            <a:ext cx="5120640" cy="1143000"/>
          </a:xfrm>
          <a:prstGeom prst="roundRect">
            <a:avLst/>
          </a:prstGeom>
          <a:solidFill>
            <a:srgbClr val="08111F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480560"/>
            <a:ext cx="2926080" cy="2743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800" b="1">
                <a:solidFill>
                  <a:srgbClr val="2DD4BF"/>
                </a:solidFill>
                <a:latin typeface="Malgun Gothic"/>
              </a:rPr>
              <a:t>PASS / REVIEW / FAIL 게이트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800600"/>
            <a:ext cx="4572000" cy="5029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300" b="0">
                <a:solidFill>
                  <a:srgbClr val="F4F7FB"/>
                </a:solidFill>
                <a:latin typeface="Malgun Gothic"/>
              </a:rPr>
              <a:t>예: Total ≥14, TR ≥3, MOA ≥2, Data ≥2
+ hard blocker 없음 → PASS 후보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251960"/>
            <a:ext cx="5120640" cy="1143000"/>
          </a:xfrm>
          <a:prstGeom prst="roundRect">
            <a:avLst/>
          </a:prstGeom>
          <a:solidFill>
            <a:srgbClr val="08111F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480560"/>
            <a:ext cx="2926080" cy="2743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Malgun Gothic"/>
              </a:rPr>
              <a:t>Audit label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800600"/>
            <a:ext cx="4389120" cy="5029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300" b="0">
                <a:solidFill>
                  <a:srgbClr val="F4F7FB"/>
                </a:solidFill>
                <a:latin typeface="Malgun Gothic"/>
              </a:rPr>
              <a:t>E0–E4 evidence type, why_not_higher,
investigation_note, source URL 보존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748BA8"/>
                </a:solidFill>
                <a:latin typeface="Malgun Gothic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100" b="1">
                <a:solidFill>
                  <a:srgbClr val="2DD4BF"/>
                </a:solidFill>
                <a:latin typeface="Malgun Gothic"/>
              </a:rPr>
              <a:t>SKBP Pipeline Finder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8961120" cy="59436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3400" b="1">
                <a:solidFill>
                  <a:srgbClr val="F4F7FB"/>
                </a:solidFill>
                <a:latin typeface="Malgun Gothic"/>
              </a:rPr>
              <a:t>상세 화면: 원문 리포트와 Score 근거를 같은 화면에서 검토</a:t>
            </a:r>
          </a:p>
        </p:txBody>
      </p:sp>
      <p:pic>
        <p:nvPicPr>
          <p:cNvPr id="4" name="Picture 3" descr="detail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83042"/>
            <a:ext cx="8138160" cy="457771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915400" y="1554480"/>
            <a:ext cx="2514600" cy="429768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25712" y="1810512"/>
            <a:ext cx="2011680" cy="2743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800" b="1">
                <a:solidFill>
                  <a:srgbClr val="2DD4BF"/>
                </a:solidFill>
                <a:latin typeface="Malgun Gothic"/>
              </a:rPr>
              <a:t>Detail의 가치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2240280"/>
            <a:ext cx="2011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4F7FB"/>
                </a:solidFill>
                <a:latin typeface="Malgun Gothic"/>
              </a:defRPr>
            </a:pPr>
            <a:r>
              <a:t>좌측 Mini TOC로 긴 GPT 리포트 탐색</a:t>
            </a:r>
          </a:p>
          <a:p>
            <a:pPr>
              <a:spcAft>
                <a:spcPts val="800"/>
              </a:spcAft>
              <a:defRPr sz="1200">
                <a:solidFill>
                  <a:srgbClr val="F4F7FB"/>
                </a:solidFill>
                <a:latin typeface="Malgun Gothic"/>
              </a:defRPr>
            </a:pPr>
            <a:r>
              <a:t>중앙: Markdown 원문 리포트</a:t>
            </a:r>
          </a:p>
          <a:p>
            <a:pPr>
              <a:spcAft>
                <a:spcPts val="800"/>
              </a:spcAft>
              <a:defRPr sz="1200">
                <a:solidFill>
                  <a:srgbClr val="F4F7FB"/>
                </a:solidFill>
                <a:latin typeface="Malgun Gothic"/>
              </a:defRPr>
            </a:pPr>
            <a:r>
              <a:t>우측: criteria별 점수·근거·source 링크</a:t>
            </a:r>
          </a:p>
          <a:p>
            <a:pPr>
              <a:spcAft>
                <a:spcPts val="800"/>
              </a:spcAft>
              <a:defRPr sz="1200">
                <a:solidFill>
                  <a:srgbClr val="F4F7FB"/>
                </a:solidFill>
                <a:latin typeface="Malgun Gothic"/>
              </a:defRPr>
            </a:pPr>
            <a:r>
              <a:t>AI Agent로 현재 asset 맥락 질문</a:t>
            </a:r>
          </a:p>
          <a:p>
            <a:pPr>
              <a:spcAft>
                <a:spcPts val="800"/>
              </a:spcAft>
              <a:defRPr sz="1200">
                <a:solidFill>
                  <a:srgbClr val="F4F7FB"/>
                </a:solidFill>
                <a:latin typeface="Malgun Gothic"/>
              </a:defRPr>
            </a:pPr>
            <a:r>
              <a:t>JSON 편집/저장으로 데이터 정정 가능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748BA8"/>
                </a:solidFill>
                <a:latin typeface="Malgun Gothic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100" b="1">
                <a:solidFill>
                  <a:srgbClr val="2DD4BF"/>
                </a:solidFill>
                <a:latin typeface="Malgun Gothic"/>
              </a:rPr>
              <a:t>SKBP Pipeline Finder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8961120" cy="59436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3400" b="1">
                <a:solidFill>
                  <a:srgbClr val="F4F7FB"/>
                </a:solidFill>
                <a:latin typeface="Malgun Gothic"/>
              </a:rPr>
              <a:t>Wiki/Obsidian 레이어: Dashboard 밖 지식베이스</a:t>
            </a:r>
          </a:p>
        </p:txBody>
      </p:sp>
      <p:pic>
        <p:nvPicPr>
          <p:cNvPr id="4" name="Picture 3" descr="wiki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84832"/>
            <a:ext cx="3749039" cy="337413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709160" y="1463040"/>
            <a:ext cx="3063240" cy="96012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0" y="1691640"/>
            <a:ext cx="2011680" cy="2743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800" b="1">
                <a:solidFill>
                  <a:srgbClr val="2DD4BF"/>
                </a:solidFill>
                <a:latin typeface="Malgun Gothic"/>
              </a:rPr>
              <a:t>자동 생성 노트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057400"/>
            <a:ext cx="2331720" cy="201168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100" b="0">
                <a:solidFill>
                  <a:srgbClr val="F4F7FB"/>
                </a:solidFill>
                <a:latin typeface="Malgun Gothic"/>
              </a:rPr>
              <a:t>Assets / Companies / Targets / Indications / Scorecards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2743200"/>
            <a:ext cx="3063240" cy="96012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2971800"/>
            <a:ext cx="2011680" cy="2743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800" b="1">
                <a:solidFill>
                  <a:srgbClr val="8BA8FF"/>
                </a:solidFill>
                <a:latin typeface="Malgun Gothic"/>
              </a:rPr>
              <a:t>대시보드 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3337560"/>
            <a:ext cx="2331720" cy="201168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100" b="0">
                <a:solidFill>
                  <a:srgbClr val="F4F7FB"/>
                </a:solidFill>
                <a:latin typeface="Malgun Gothic"/>
              </a:rPr>
              <a:t>Asset Index, By Target, By Theme, Evidence Gaps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4023360"/>
            <a:ext cx="3063240" cy="96012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4251960"/>
            <a:ext cx="2011680" cy="2743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800" b="1">
                <a:solidFill>
                  <a:srgbClr val="FBBF24"/>
                </a:solidFill>
                <a:latin typeface="Malgun Gothic"/>
              </a:rPr>
              <a:t>Graph Export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4617720"/>
            <a:ext cx="2377440" cy="201168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100" b="0">
                <a:solidFill>
                  <a:srgbClr val="F4F7FB"/>
                </a:solidFill>
                <a:latin typeface="Malgun Gothic"/>
              </a:rPr>
              <a:t>nodes.csv / edges.csv / graph.json — 477 nodes, 782 edges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463040"/>
            <a:ext cx="2971800" cy="3520440"/>
          </a:xfrm>
          <a:prstGeom prst="roundRect">
            <a:avLst/>
          </a:prstGeom>
          <a:solidFill>
            <a:srgbClr val="08111F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737360"/>
            <a:ext cx="2011680" cy="2743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800" b="1">
                <a:solidFill>
                  <a:srgbClr val="2DD4BF"/>
                </a:solidFill>
                <a:latin typeface="Malgun Gothic"/>
              </a:rPr>
              <a:t>운영 방식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148840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4F7FB"/>
                </a:solidFill>
                <a:latin typeface="Malgun Gothic"/>
              </a:defRPr>
            </a:pPr>
            <a:r>
              <a:t>JSON 수정 → export script 실행</a:t>
            </a:r>
          </a:p>
          <a:p>
            <a:pPr>
              <a:spcAft>
                <a:spcPts val="800"/>
              </a:spcAft>
              <a:defRPr sz="1200">
                <a:solidFill>
                  <a:srgbClr val="F4F7FB"/>
                </a:solidFill>
                <a:latin typeface="Malgun Gothic"/>
              </a:defRPr>
            </a:pPr>
            <a:r>
              <a:t>Markdown vault는 산출물이므로 재생성 가능</a:t>
            </a:r>
          </a:p>
          <a:p>
            <a:pPr>
              <a:spcAft>
                <a:spcPts val="800"/>
              </a:spcAft>
              <a:defRPr sz="1200">
                <a:solidFill>
                  <a:srgbClr val="F4F7FB"/>
                </a:solidFill>
                <a:latin typeface="Malgun Gothic"/>
              </a:defRPr>
            </a:pPr>
            <a:r>
              <a:t>LLM Agent가 dashboard JSON + Wiki note를 함께 검색</a:t>
            </a:r>
          </a:p>
          <a:p>
            <a:pPr>
              <a:spcAft>
                <a:spcPts val="800"/>
              </a:spcAft>
              <a:defRPr sz="1200">
                <a:solidFill>
                  <a:srgbClr val="F4F7FB"/>
                </a:solidFill>
                <a:latin typeface="Malgun Gothic"/>
              </a:defRPr>
            </a:pPr>
            <a:r>
              <a:t>회의 후 Obsidian에서 연결 지식으로 계속 활용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748BA8"/>
                </a:solidFill>
                <a:latin typeface="Malgun Gothic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100" b="1">
                <a:solidFill>
                  <a:srgbClr val="2DD4BF"/>
                </a:solidFill>
                <a:latin typeface="Malgun Gothic"/>
              </a:rPr>
              <a:t>SKBP Pipeline Finder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8961120" cy="59436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3400" b="1">
                <a:solidFill>
                  <a:srgbClr val="F4F7FB"/>
                </a:solidFill>
                <a:latin typeface="Malgun Gothic"/>
              </a:rPr>
              <a:t>전사 데모 7분 구성안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18872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300" b="1">
                <a:solidFill>
                  <a:srgbClr val="2DD4BF"/>
                </a:solidFill>
                <a:latin typeface="Malgun Gothic"/>
              </a:rPr>
              <a:t>0:00–0:40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1417320"/>
            <a:ext cx="182880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500" b="1">
                <a:solidFill>
                  <a:srgbClr val="F4F7FB"/>
                </a:solidFill>
                <a:latin typeface="Malgun Gothic"/>
              </a:rPr>
              <a:t>문제 정의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77639" y="1417320"/>
            <a:ext cx="685800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300" b="0">
                <a:solidFill>
                  <a:srgbClr val="B0C4DE"/>
                </a:solidFill>
                <a:latin typeface="Malgun Gothic"/>
              </a:rPr>
              <a:t>후보 검토가 왜 오래 걸렸는지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75688"/>
            <a:ext cx="118872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300" b="1">
                <a:solidFill>
                  <a:srgbClr val="2DD4BF"/>
                </a:solidFill>
                <a:latin typeface="Malgun Gothic"/>
              </a:rPr>
              <a:t>0:40–1:30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2075688"/>
            <a:ext cx="182880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500" b="1">
                <a:solidFill>
                  <a:srgbClr val="F4F7FB"/>
                </a:solidFill>
                <a:latin typeface="Malgun Gothic"/>
              </a:rPr>
              <a:t>제작 과정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2075688"/>
            <a:ext cx="685800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300" b="0">
                <a:solidFill>
                  <a:srgbClr val="B0C4DE"/>
                </a:solidFill>
                <a:latin typeface="Malgun Gothic"/>
              </a:rPr>
              <a:t>GPT1/2, JSON schema, rubric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34056"/>
            <a:ext cx="118872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300" b="1">
                <a:solidFill>
                  <a:srgbClr val="2DD4BF"/>
                </a:solidFill>
                <a:latin typeface="Malgun Gothic"/>
              </a:rPr>
              <a:t>1:30–3:10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2734056"/>
            <a:ext cx="182880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500" b="1">
                <a:solidFill>
                  <a:srgbClr val="F4F7FB"/>
                </a:solidFill>
                <a:latin typeface="Malgun Gothic"/>
              </a:rPr>
              <a:t>Dashboard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2734056"/>
            <a:ext cx="685800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300" b="0">
                <a:solidFill>
                  <a:srgbClr val="B0C4DE"/>
                </a:solidFill>
                <a:latin typeface="Malgun Gothic"/>
              </a:rPr>
              <a:t>KPI·차트·필터·Priority Watch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92424"/>
            <a:ext cx="118872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300" b="1">
                <a:solidFill>
                  <a:srgbClr val="2DD4BF"/>
                </a:solidFill>
                <a:latin typeface="Malgun Gothic"/>
              </a:rPr>
              <a:t>3:10–4:40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3392424"/>
            <a:ext cx="182880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500" b="1">
                <a:solidFill>
                  <a:srgbClr val="F4F7FB"/>
                </a:solidFill>
                <a:latin typeface="Malgun Gothic"/>
              </a:rPr>
              <a:t>Detail 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3392424"/>
            <a:ext cx="685800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300" b="0">
                <a:solidFill>
                  <a:srgbClr val="B0C4DE"/>
                </a:solidFill>
                <a:latin typeface="Malgun Gothic"/>
              </a:rPr>
              <a:t>원문, 점수근거, 출처, AI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050791"/>
            <a:ext cx="118872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300" b="1">
                <a:solidFill>
                  <a:srgbClr val="2DD4BF"/>
                </a:solidFill>
                <a:latin typeface="Malgun Gothic"/>
              </a:rPr>
              <a:t>4:40–5:40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050791"/>
            <a:ext cx="182880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500" b="1">
                <a:solidFill>
                  <a:srgbClr val="F4F7FB"/>
                </a:solidFill>
                <a:latin typeface="Malgun Gothic"/>
              </a:rPr>
              <a:t>Wiki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4050791"/>
            <a:ext cx="685800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300" b="0">
                <a:solidFill>
                  <a:srgbClr val="B0C4DE"/>
                </a:solidFill>
                <a:latin typeface="Malgun Gothic"/>
              </a:rPr>
              <a:t>Obsidian export와 graph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709159"/>
            <a:ext cx="118872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300" b="1">
                <a:solidFill>
                  <a:srgbClr val="2DD4BF"/>
                </a:solidFill>
                <a:latin typeface="Malgun Gothic"/>
              </a:rPr>
              <a:t>5:40–6:40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709159"/>
            <a:ext cx="182880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500" b="1">
                <a:solidFill>
                  <a:srgbClr val="F4F7FB"/>
                </a:solidFill>
                <a:latin typeface="Malgun Gothic"/>
              </a:rPr>
              <a:t>운영/확장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39" y="4709159"/>
            <a:ext cx="685800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300" b="0">
                <a:solidFill>
                  <a:srgbClr val="B0C4DE"/>
                </a:solidFill>
                <a:latin typeface="Malgun Gothic"/>
              </a:rPr>
              <a:t>데이터 갱신, 배포, DB 전환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367528"/>
            <a:ext cx="118872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300" b="1">
                <a:solidFill>
                  <a:srgbClr val="2DD4BF"/>
                </a:solidFill>
                <a:latin typeface="Malgun Gothic"/>
              </a:rPr>
              <a:t>6:40–7:00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5367528"/>
            <a:ext cx="182880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500" b="1">
                <a:solidFill>
                  <a:srgbClr val="F4F7FB"/>
                </a:solidFill>
                <a:latin typeface="Malgun Gothic"/>
              </a:rPr>
              <a:t>마무리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5367528"/>
            <a:ext cx="685800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300" b="0">
                <a:solidFill>
                  <a:srgbClr val="B0C4DE"/>
                </a:solidFill>
                <a:latin typeface="Malgun Gothic"/>
              </a:rPr>
              <a:t>의사결정 속도와 감사 가능성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748BA8"/>
                </a:solidFill>
                <a:latin typeface="Malgun Gothic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100" b="1">
                <a:solidFill>
                  <a:srgbClr val="2DD4BF"/>
                </a:solidFill>
                <a:latin typeface="Malgun Gothic"/>
              </a:rPr>
              <a:t>SKBP Pipeline Finder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8961120" cy="59436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3400" b="1">
                <a:solidFill>
                  <a:srgbClr val="F4F7FB"/>
                </a:solidFill>
                <a:latin typeface="Malgun Gothic"/>
              </a:rPr>
              <a:t>마무리: 이 대시보드의 핵심 특징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37360"/>
            <a:ext cx="3246120" cy="201168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2377440" cy="36576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2300" b="1">
                <a:solidFill>
                  <a:srgbClr val="2DD4BF"/>
                </a:solidFill>
                <a:latin typeface="Malgun Gothic"/>
              </a:rPr>
              <a:t>비교 가능성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2606040" cy="54864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500" b="0">
                <a:solidFill>
                  <a:srgbClr val="F4F7FB"/>
                </a:solidFill>
                <a:latin typeface="Malgun Gothic"/>
              </a:rPr>
              <a:t>후보를 같은 점수체계와 필터로 비교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737360"/>
            <a:ext cx="3246120" cy="201168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011680"/>
            <a:ext cx="2377440" cy="36576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2300" b="1">
                <a:solidFill>
                  <a:srgbClr val="FBBF24"/>
                </a:solidFill>
                <a:latin typeface="Malgun Gothic"/>
              </a:rPr>
              <a:t>감사 가능성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606040"/>
            <a:ext cx="2606040" cy="54864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500" b="0">
                <a:solidFill>
                  <a:srgbClr val="F4F7FB"/>
                </a:solidFill>
                <a:latin typeface="Malgun Gothic"/>
              </a:rPr>
              <a:t>점수·근거·출처·불확실성까지 보존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737360"/>
            <a:ext cx="3246120" cy="2011680"/>
          </a:xfrm>
          <a:prstGeom prst="roundRect">
            <a:avLst/>
          </a:prstGeom>
          <a:solidFill>
            <a:srgbClr val="18263C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2011680"/>
            <a:ext cx="2377440" cy="36576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2300" b="1">
                <a:solidFill>
                  <a:srgbClr val="8BA8FF"/>
                </a:solidFill>
                <a:latin typeface="Malgun Gothic"/>
              </a:rPr>
              <a:t>확장 가능성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606040"/>
            <a:ext cx="2606040" cy="54864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500" b="0">
                <a:solidFill>
                  <a:srgbClr val="F4F7FB"/>
                </a:solidFill>
                <a:latin typeface="Malgun Gothic"/>
              </a:rPr>
              <a:t>JSON → Dashboard → Wiki → Agent로 재사용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4663440"/>
            <a:ext cx="9966960" cy="777240"/>
          </a:xfrm>
          <a:prstGeom prst="roundRect">
            <a:avLst/>
          </a:prstGeom>
          <a:solidFill>
            <a:srgbClr val="08111F"/>
          </a:solidFill>
          <a:ln w="12700">
            <a:solidFill>
              <a:srgbClr val="2D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53312" y="4919472"/>
            <a:ext cx="9326880" cy="256032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r>
              <a:rPr sz="1700" b="1">
                <a:solidFill>
                  <a:srgbClr val="F4F7FB"/>
                </a:solidFill>
                <a:latin typeface="Malgun Gothic"/>
              </a:rPr>
              <a:t>한 줄 요약: 흩어진 GPT 조사 결과를 전사적으로 공유 가능한 ‘pipeline intelligence cockpit’으로 바꾼 프로젝트입니다.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5897880"/>
            <a:ext cx="2194560" cy="4114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ctr"/>
            <a:r>
              <a:rPr sz="2400" b="1">
                <a:solidFill>
                  <a:srgbClr val="2DD4BF"/>
                </a:solidFill>
                <a:latin typeface="Malgun Gothic"/>
              </a:rPr>
              <a:t>Q&amp;A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748BA8"/>
                </a:solidFill>
                <a:latin typeface="Malgun Gothic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